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23939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A4E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23939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3A4E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23939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8075" y="2212085"/>
            <a:ext cx="5938520" cy="463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3A4E4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644510" y="2212085"/>
            <a:ext cx="5739130" cy="463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3A4E4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23939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C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6" y="7751062"/>
            <a:ext cx="1725168" cy="411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980" y="349377"/>
            <a:ext cx="10505693" cy="1100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23939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2295829"/>
            <a:ext cx="7565390" cy="2583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A4E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aiHimaSindhu/Infosys_AirQuality_Sep_2025_SaiHimaSindhu" TargetMode="External"/><Relationship Id="rId3" Type="http://schemas.openxmlformats.org/officeDocument/2006/relationships/image" Target="../media/image1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294585"/>
            <a:ext cx="6682105" cy="212661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50" spc="530"/>
              <a:t>F</a:t>
            </a:r>
            <a:r>
              <a:rPr dirty="0" sz="4450" spc="90"/>
              <a:t>o</a:t>
            </a:r>
            <a:r>
              <a:rPr dirty="0" sz="4450" spc="175"/>
              <a:t>r</a:t>
            </a:r>
            <a:r>
              <a:rPr dirty="0" sz="4450" spc="120"/>
              <a:t>e</a:t>
            </a:r>
            <a:r>
              <a:rPr dirty="0" sz="4450" spc="395"/>
              <a:t>c</a:t>
            </a:r>
            <a:r>
              <a:rPr dirty="0" sz="4450" spc="175"/>
              <a:t>a</a:t>
            </a:r>
            <a:r>
              <a:rPr dirty="0" sz="4450" spc="-15"/>
              <a:t>s</a:t>
            </a:r>
            <a:r>
              <a:rPr dirty="0" sz="4450" spc="-630"/>
              <a:t> </a:t>
            </a:r>
            <a:r>
              <a:rPr dirty="0" sz="4450" spc="110"/>
              <a:t>ting</a:t>
            </a:r>
            <a:r>
              <a:rPr dirty="0" sz="4450" spc="130"/>
              <a:t> </a:t>
            </a:r>
            <a:r>
              <a:rPr dirty="0" sz="4450" spc="125"/>
              <a:t>air</a:t>
            </a:r>
            <a:r>
              <a:rPr dirty="0" sz="4450" spc="210"/>
              <a:t> </a:t>
            </a:r>
            <a:r>
              <a:rPr dirty="0" sz="4450" spc="120"/>
              <a:t>quality</a:t>
            </a:r>
            <a:endParaRPr sz="4450"/>
          </a:p>
          <a:p>
            <a:pPr marL="12700" marR="5080">
              <a:lnSpc>
                <a:spcPts val="5620"/>
              </a:lnSpc>
              <a:spcBef>
                <a:spcPts val="70"/>
              </a:spcBef>
            </a:pPr>
            <a:r>
              <a:rPr dirty="0" sz="4450" spc="80"/>
              <a:t>us</a:t>
            </a:r>
            <a:r>
              <a:rPr dirty="0" sz="4450" spc="-615"/>
              <a:t> </a:t>
            </a:r>
            <a:r>
              <a:rPr dirty="0" sz="4450" spc="130"/>
              <a:t>ing</a:t>
            </a:r>
            <a:r>
              <a:rPr dirty="0" sz="4450" spc="114"/>
              <a:t> </a:t>
            </a:r>
            <a:r>
              <a:rPr dirty="0" sz="4450" spc="125"/>
              <a:t>his</a:t>
            </a:r>
            <a:r>
              <a:rPr dirty="0" sz="4450" spc="-615"/>
              <a:t> </a:t>
            </a:r>
            <a:r>
              <a:rPr dirty="0" sz="4450" spc="155"/>
              <a:t>torical</a:t>
            </a:r>
            <a:r>
              <a:rPr dirty="0" sz="4450" spc="285"/>
              <a:t> </a:t>
            </a:r>
            <a:r>
              <a:rPr dirty="0" sz="4450" spc="100"/>
              <a:t>pollution </a:t>
            </a:r>
            <a:r>
              <a:rPr dirty="0" sz="4450" spc="40"/>
              <a:t>data</a:t>
            </a:r>
            <a:endParaRPr sz="4450"/>
          </a:p>
        </p:txBody>
      </p:sp>
      <p:sp>
        <p:nvSpPr>
          <p:cNvPr id="4" name="object 4" descr=""/>
          <p:cNvSpPr txBox="1"/>
          <p:nvPr/>
        </p:nvSpPr>
        <p:spPr>
          <a:xfrm>
            <a:off x="781304" y="4730165"/>
            <a:ext cx="7501890" cy="11391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7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This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presentation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explores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project</a:t>
            </a:r>
            <a:r>
              <a:rPr dirty="0" sz="175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focused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on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predicting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using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historical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data.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We'll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delve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into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purpose,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technologies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used,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and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impact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such</a:t>
            </a:r>
            <a:r>
              <a:rPr dirty="0" sz="17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forecasting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on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our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planet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communities.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312925"/>
            <a:ext cx="8881110" cy="5670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spc="90"/>
              <a:t>Unders</a:t>
            </a:r>
            <a:r>
              <a:rPr dirty="0" sz="3550" spc="-500"/>
              <a:t> </a:t>
            </a:r>
            <a:r>
              <a:rPr dirty="0" sz="3550" spc="110"/>
              <a:t>tanding</a:t>
            </a:r>
            <a:r>
              <a:rPr dirty="0" sz="3550" spc="180"/>
              <a:t> </a:t>
            </a:r>
            <a:r>
              <a:rPr dirty="0" sz="3550"/>
              <a:t>the</a:t>
            </a:r>
            <a:r>
              <a:rPr dirty="0" sz="3550" spc="114"/>
              <a:t> </a:t>
            </a:r>
            <a:r>
              <a:rPr dirty="0" sz="3550" spc="90"/>
              <a:t>Air</a:t>
            </a:r>
            <a:r>
              <a:rPr dirty="0" sz="3550" spc="270"/>
              <a:t> </a:t>
            </a:r>
            <a:r>
              <a:rPr dirty="0" sz="3550" spc="85"/>
              <a:t>Quality</a:t>
            </a:r>
            <a:r>
              <a:rPr dirty="0" sz="3550" spc="380"/>
              <a:t> </a:t>
            </a:r>
            <a:r>
              <a:rPr dirty="0" sz="3550" spc="70"/>
              <a:t>Index</a:t>
            </a:r>
            <a:r>
              <a:rPr dirty="0" sz="3550" spc="490"/>
              <a:t> </a:t>
            </a:r>
            <a:r>
              <a:rPr dirty="0" sz="3550" spc="60"/>
              <a:t>(AQI)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2382695"/>
            <a:ext cx="6450330" cy="3901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9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Index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(AQI)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is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vital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tool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communicating</a:t>
            </a:r>
            <a:r>
              <a:rPr dirty="0" sz="1750" spc="-1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the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current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forecasted air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quality.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It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translates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complex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pollutant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concentrations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into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single,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easy-to-understand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number,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helping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us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assess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how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clean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or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polluted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is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what</a:t>
            </a:r>
            <a:r>
              <a:rPr dirty="0" sz="17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associated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health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effects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might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be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concern.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650" spc="60">
                <a:solidFill>
                  <a:srgbClr val="223939"/>
                </a:solidFill>
                <a:latin typeface="Malgun Gothic Semilight"/>
                <a:cs typeface="Malgun Gothic Semilight"/>
              </a:rPr>
              <a:t>Purpos</a:t>
            </a:r>
            <a:r>
              <a:rPr dirty="0" sz="2650" spc="-370">
                <a:solidFill>
                  <a:srgbClr val="223939"/>
                </a:solidFill>
                <a:latin typeface="Malgun Gothic Semilight"/>
                <a:cs typeface="Malgun Gothic Semilight"/>
              </a:rPr>
              <a:t> </a:t>
            </a:r>
            <a:r>
              <a:rPr dirty="0" sz="2650">
                <a:solidFill>
                  <a:srgbClr val="223939"/>
                </a:solidFill>
                <a:latin typeface="Malgun Gothic Semilight"/>
                <a:cs typeface="Malgun Gothic Semilight"/>
              </a:rPr>
              <a:t>e</a:t>
            </a:r>
            <a:r>
              <a:rPr dirty="0" sz="2650" spc="40">
                <a:solidFill>
                  <a:srgbClr val="223939"/>
                </a:solidFill>
                <a:latin typeface="Malgun Gothic Semilight"/>
                <a:cs typeface="Malgun Gothic Semilight"/>
              </a:rPr>
              <a:t> </a:t>
            </a:r>
            <a:r>
              <a:rPr dirty="0" sz="2650">
                <a:solidFill>
                  <a:srgbClr val="223939"/>
                </a:solidFill>
                <a:latin typeface="Malgun Gothic Semilight"/>
                <a:cs typeface="Malgun Gothic Semilight"/>
              </a:rPr>
              <a:t>of</a:t>
            </a:r>
            <a:r>
              <a:rPr dirty="0" sz="2650" spc="-85">
                <a:solidFill>
                  <a:srgbClr val="223939"/>
                </a:solidFill>
                <a:latin typeface="Malgun Gothic Semilight"/>
                <a:cs typeface="Malgun Gothic Semilight"/>
              </a:rPr>
              <a:t> </a:t>
            </a:r>
            <a:r>
              <a:rPr dirty="0" sz="2650" spc="-25">
                <a:solidFill>
                  <a:srgbClr val="223939"/>
                </a:solidFill>
                <a:latin typeface="Malgun Gothic Semilight"/>
                <a:cs typeface="Malgun Gothic Semilight"/>
              </a:rPr>
              <a:t>AQI</a:t>
            </a:r>
            <a:endParaRPr sz="2650">
              <a:latin typeface="Malgun Gothic Semilight"/>
              <a:cs typeface="Malgun Gothic Semilight"/>
            </a:endParaRPr>
          </a:p>
          <a:p>
            <a:pPr marL="356870" indent="-344170">
              <a:lnSpc>
                <a:spcPct val="100000"/>
              </a:lnSpc>
              <a:spcBef>
                <a:spcPts val="2450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simplify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complex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data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into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single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number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(or</a:t>
            </a:r>
            <a:endParaRPr sz="175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850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color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code).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40"/>
              </a:spcBef>
              <a:buChar char="•"/>
              <a:tabLst>
                <a:tab pos="356870" algn="l"/>
              </a:tabLst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inform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public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about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current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levels.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9935" y="2508504"/>
            <a:ext cx="5974080" cy="412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189" y="535685"/>
            <a:ext cx="6516370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61079" algn="l"/>
              </a:tabLst>
            </a:pPr>
            <a:r>
              <a:rPr dirty="0" sz="3200" spc="-25"/>
              <a:t>K</a:t>
            </a:r>
            <a:r>
              <a:rPr dirty="0" sz="3200" spc="-475"/>
              <a:t> </a:t>
            </a:r>
            <a:r>
              <a:rPr dirty="0" sz="3200"/>
              <a:t>ey</a:t>
            </a:r>
            <a:r>
              <a:rPr dirty="0" sz="3200" spc="275"/>
              <a:t> </a:t>
            </a:r>
            <a:r>
              <a:rPr dirty="0" sz="3200" spc="85"/>
              <a:t>Air</a:t>
            </a:r>
            <a:r>
              <a:rPr dirty="0" sz="3200" spc="254"/>
              <a:t> </a:t>
            </a:r>
            <a:r>
              <a:rPr dirty="0" sz="3200" spc="55"/>
              <a:t>Pollutants</a:t>
            </a:r>
            <a:r>
              <a:rPr dirty="0" sz="3200"/>
              <a:t>	</a:t>
            </a:r>
            <a:r>
              <a:rPr dirty="0" sz="3200" spc="110"/>
              <a:t>Influencing</a:t>
            </a:r>
            <a:r>
              <a:rPr dirty="0" sz="3200" spc="55"/>
              <a:t> </a:t>
            </a:r>
            <a:r>
              <a:rPr dirty="0" sz="3200" spc="-25"/>
              <a:t>AQI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04189" y="1422349"/>
            <a:ext cx="1312799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60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Index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3A4E4E"/>
                </a:solidFill>
                <a:latin typeface="Tahoma"/>
                <a:cs typeface="Tahoma"/>
              </a:rPr>
              <a:t>(AQI)</a:t>
            </a:r>
            <a:r>
              <a:rPr dirty="0" sz="16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is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influenced</a:t>
            </a:r>
            <a:r>
              <a:rPr dirty="0" sz="16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by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60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concentration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several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key</a:t>
            </a:r>
            <a:r>
              <a:rPr dirty="0" sz="160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pollutants,</a:t>
            </a:r>
            <a:r>
              <a:rPr dirty="0" sz="160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each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with</a:t>
            </a:r>
            <a:r>
              <a:rPr dirty="0" sz="160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distinct</a:t>
            </a:r>
            <a:r>
              <a:rPr dirty="0" sz="16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sources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health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implications</a:t>
            </a:r>
            <a:r>
              <a:rPr dirty="0" sz="160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both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humans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60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environment.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94944" y="2368295"/>
            <a:ext cx="4297680" cy="2560320"/>
            <a:chOff x="694944" y="2368295"/>
            <a:chExt cx="4297680" cy="2560320"/>
          </a:xfrm>
        </p:grpSpPr>
        <p:sp>
          <p:nvSpPr>
            <p:cNvPr id="5" name="object 5" descr=""/>
            <p:cNvSpPr/>
            <p:nvPr/>
          </p:nvSpPr>
          <p:spPr>
            <a:xfrm>
              <a:off x="716280" y="2380487"/>
              <a:ext cx="4264660" cy="2536190"/>
            </a:xfrm>
            <a:custGeom>
              <a:avLst/>
              <a:gdLst/>
              <a:ahLst/>
              <a:cxnLst/>
              <a:rect l="l" t="t" r="r" b="b"/>
              <a:pathLst>
                <a:path w="4264660" h="2536190">
                  <a:moveTo>
                    <a:pt x="4154424" y="0"/>
                  </a:moveTo>
                  <a:lnTo>
                    <a:pt x="109702" y="0"/>
                  </a:lnTo>
                  <a:lnTo>
                    <a:pt x="66999" y="8626"/>
                  </a:lnTo>
                  <a:lnTo>
                    <a:pt x="32129" y="32146"/>
                  </a:lnTo>
                  <a:lnTo>
                    <a:pt x="8620" y="67026"/>
                  </a:lnTo>
                  <a:lnTo>
                    <a:pt x="0" y="109727"/>
                  </a:lnTo>
                  <a:lnTo>
                    <a:pt x="0" y="2426208"/>
                  </a:lnTo>
                  <a:lnTo>
                    <a:pt x="8620" y="2468909"/>
                  </a:lnTo>
                  <a:lnTo>
                    <a:pt x="32129" y="2503789"/>
                  </a:lnTo>
                  <a:lnTo>
                    <a:pt x="66999" y="2527309"/>
                  </a:lnTo>
                  <a:lnTo>
                    <a:pt x="109702" y="2535936"/>
                  </a:lnTo>
                  <a:lnTo>
                    <a:pt x="4154424" y="2535936"/>
                  </a:lnTo>
                  <a:lnTo>
                    <a:pt x="4197125" y="2527309"/>
                  </a:lnTo>
                  <a:lnTo>
                    <a:pt x="4232005" y="2503789"/>
                  </a:lnTo>
                  <a:lnTo>
                    <a:pt x="4255525" y="2468909"/>
                  </a:lnTo>
                  <a:lnTo>
                    <a:pt x="4264152" y="2426208"/>
                  </a:lnTo>
                  <a:lnTo>
                    <a:pt x="4264152" y="109727"/>
                  </a:lnTo>
                  <a:lnTo>
                    <a:pt x="4255525" y="67026"/>
                  </a:lnTo>
                  <a:lnTo>
                    <a:pt x="4232005" y="32146"/>
                  </a:lnTo>
                  <a:lnTo>
                    <a:pt x="4197125" y="8626"/>
                  </a:lnTo>
                  <a:lnTo>
                    <a:pt x="4154424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6280" y="2380487"/>
              <a:ext cx="4264660" cy="2536190"/>
            </a:xfrm>
            <a:custGeom>
              <a:avLst/>
              <a:gdLst/>
              <a:ahLst/>
              <a:cxnLst/>
              <a:rect l="l" t="t" r="r" b="b"/>
              <a:pathLst>
                <a:path w="4264660" h="2536190">
                  <a:moveTo>
                    <a:pt x="0" y="109727"/>
                  </a:moveTo>
                  <a:lnTo>
                    <a:pt x="8620" y="67026"/>
                  </a:lnTo>
                  <a:lnTo>
                    <a:pt x="32129" y="32146"/>
                  </a:lnTo>
                  <a:lnTo>
                    <a:pt x="66999" y="8626"/>
                  </a:lnTo>
                  <a:lnTo>
                    <a:pt x="109702" y="0"/>
                  </a:lnTo>
                  <a:lnTo>
                    <a:pt x="4154424" y="0"/>
                  </a:lnTo>
                  <a:lnTo>
                    <a:pt x="4197125" y="8626"/>
                  </a:lnTo>
                  <a:lnTo>
                    <a:pt x="4232005" y="32146"/>
                  </a:lnTo>
                  <a:lnTo>
                    <a:pt x="4255525" y="67026"/>
                  </a:lnTo>
                  <a:lnTo>
                    <a:pt x="4264152" y="109727"/>
                  </a:lnTo>
                  <a:lnTo>
                    <a:pt x="4264152" y="2426208"/>
                  </a:lnTo>
                  <a:lnTo>
                    <a:pt x="4255525" y="2468909"/>
                  </a:lnTo>
                  <a:lnTo>
                    <a:pt x="4232005" y="2503789"/>
                  </a:lnTo>
                  <a:lnTo>
                    <a:pt x="4197125" y="2527309"/>
                  </a:lnTo>
                  <a:lnTo>
                    <a:pt x="4154424" y="2535936"/>
                  </a:lnTo>
                  <a:lnTo>
                    <a:pt x="109702" y="2535936"/>
                  </a:lnTo>
                  <a:lnTo>
                    <a:pt x="66999" y="2527309"/>
                  </a:lnTo>
                  <a:lnTo>
                    <a:pt x="32129" y="2503789"/>
                  </a:lnTo>
                  <a:lnTo>
                    <a:pt x="8620" y="2468909"/>
                  </a:lnTo>
                  <a:lnTo>
                    <a:pt x="0" y="2426208"/>
                  </a:lnTo>
                  <a:lnTo>
                    <a:pt x="0" y="109727"/>
                  </a:lnTo>
                  <a:close/>
                </a:path>
              </a:pathLst>
            </a:custGeom>
            <a:ln w="2438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94944" y="2380487"/>
              <a:ext cx="91440" cy="2536190"/>
            </a:xfrm>
            <a:custGeom>
              <a:avLst/>
              <a:gdLst/>
              <a:ahLst/>
              <a:cxnLst/>
              <a:rect l="l" t="t" r="r" b="b"/>
              <a:pathLst>
                <a:path w="91440" h="2536190">
                  <a:moveTo>
                    <a:pt x="45720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490216"/>
                  </a:lnTo>
                  <a:lnTo>
                    <a:pt x="3593" y="2508021"/>
                  </a:lnTo>
                  <a:lnTo>
                    <a:pt x="13392" y="2522553"/>
                  </a:lnTo>
                  <a:lnTo>
                    <a:pt x="27924" y="2532346"/>
                  </a:lnTo>
                  <a:lnTo>
                    <a:pt x="45720" y="2535936"/>
                  </a:lnTo>
                  <a:lnTo>
                    <a:pt x="63515" y="2532346"/>
                  </a:lnTo>
                  <a:lnTo>
                    <a:pt x="78047" y="2522553"/>
                  </a:lnTo>
                  <a:lnTo>
                    <a:pt x="87846" y="2508021"/>
                  </a:lnTo>
                  <a:lnTo>
                    <a:pt x="91440" y="2490216"/>
                  </a:lnTo>
                  <a:lnTo>
                    <a:pt x="91440" y="45720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00760" y="2580512"/>
            <a:ext cx="3564890" cy="1756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3A4E4E"/>
                </a:solidFill>
                <a:latin typeface="Malgun Gothic Semilight"/>
                <a:cs typeface="Malgun Gothic Semilight"/>
              </a:rPr>
              <a:t>Carbon</a:t>
            </a:r>
            <a:r>
              <a:rPr dirty="0" sz="2000" spc="13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55">
                <a:solidFill>
                  <a:srgbClr val="3A4E4E"/>
                </a:solidFill>
                <a:latin typeface="Malgun Gothic Semilight"/>
                <a:cs typeface="Malgun Gothic Semilight"/>
              </a:rPr>
              <a:t>Monoxide</a:t>
            </a:r>
            <a:r>
              <a:rPr dirty="0" sz="2000" spc="254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20">
                <a:solidFill>
                  <a:srgbClr val="3A4E4E"/>
                </a:solidFill>
                <a:latin typeface="Malgun Gothic Semilight"/>
                <a:cs typeface="Malgun Gothic Semilight"/>
              </a:rPr>
              <a:t>(CO)</a:t>
            </a:r>
            <a:endParaRPr sz="20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6300"/>
              </a:lnSpc>
              <a:spcBef>
                <a:spcPts val="765"/>
              </a:spcBef>
            </a:pPr>
            <a:r>
              <a:rPr dirty="0" sz="1600" spc="105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colorless,</a:t>
            </a:r>
            <a:r>
              <a:rPr dirty="0" sz="16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odorless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gas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primarily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from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vehicle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exhaust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industrial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combustion,</a:t>
            </a:r>
            <a:r>
              <a:rPr dirty="0" sz="160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it</a:t>
            </a:r>
            <a:r>
              <a:rPr dirty="0" sz="160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reduces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oxygen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delivery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organs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tissues.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160264" y="2368295"/>
            <a:ext cx="4297680" cy="2560320"/>
            <a:chOff x="5160264" y="2368295"/>
            <a:chExt cx="4297680" cy="2560320"/>
          </a:xfrm>
        </p:grpSpPr>
        <p:sp>
          <p:nvSpPr>
            <p:cNvPr id="10" name="object 10" descr=""/>
            <p:cNvSpPr/>
            <p:nvPr/>
          </p:nvSpPr>
          <p:spPr>
            <a:xfrm>
              <a:off x="5184648" y="2380487"/>
              <a:ext cx="4261485" cy="2536190"/>
            </a:xfrm>
            <a:custGeom>
              <a:avLst/>
              <a:gdLst/>
              <a:ahLst/>
              <a:cxnLst/>
              <a:rect l="l" t="t" r="r" b="b"/>
              <a:pathLst>
                <a:path w="4261484" h="2536190">
                  <a:moveTo>
                    <a:pt x="4151376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426208"/>
                  </a:lnTo>
                  <a:lnTo>
                    <a:pt x="8626" y="2468909"/>
                  </a:lnTo>
                  <a:lnTo>
                    <a:pt x="32146" y="2503789"/>
                  </a:lnTo>
                  <a:lnTo>
                    <a:pt x="67026" y="2527309"/>
                  </a:lnTo>
                  <a:lnTo>
                    <a:pt x="109727" y="2535936"/>
                  </a:lnTo>
                  <a:lnTo>
                    <a:pt x="4151376" y="2535936"/>
                  </a:lnTo>
                  <a:lnTo>
                    <a:pt x="4194077" y="2527309"/>
                  </a:lnTo>
                  <a:lnTo>
                    <a:pt x="4228957" y="2503789"/>
                  </a:lnTo>
                  <a:lnTo>
                    <a:pt x="4252477" y="2468909"/>
                  </a:lnTo>
                  <a:lnTo>
                    <a:pt x="4261104" y="2426208"/>
                  </a:lnTo>
                  <a:lnTo>
                    <a:pt x="4261104" y="109727"/>
                  </a:lnTo>
                  <a:lnTo>
                    <a:pt x="4252477" y="67026"/>
                  </a:lnTo>
                  <a:lnTo>
                    <a:pt x="4228957" y="32146"/>
                  </a:lnTo>
                  <a:lnTo>
                    <a:pt x="4194077" y="8626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84648" y="2380487"/>
              <a:ext cx="4261485" cy="2536190"/>
            </a:xfrm>
            <a:custGeom>
              <a:avLst/>
              <a:gdLst/>
              <a:ahLst/>
              <a:cxnLst/>
              <a:rect l="l" t="t" r="r" b="b"/>
              <a:pathLst>
                <a:path w="4261484" h="253619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51376" y="0"/>
                  </a:lnTo>
                  <a:lnTo>
                    <a:pt x="4194077" y="8626"/>
                  </a:lnTo>
                  <a:lnTo>
                    <a:pt x="4228957" y="32146"/>
                  </a:lnTo>
                  <a:lnTo>
                    <a:pt x="4252477" y="67026"/>
                  </a:lnTo>
                  <a:lnTo>
                    <a:pt x="4261104" y="109727"/>
                  </a:lnTo>
                  <a:lnTo>
                    <a:pt x="4261104" y="2426208"/>
                  </a:lnTo>
                  <a:lnTo>
                    <a:pt x="4252477" y="2468909"/>
                  </a:lnTo>
                  <a:lnTo>
                    <a:pt x="4228957" y="2503789"/>
                  </a:lnTo>
                  <a:lnTo>
                    <a:pt x="4194077" y="2527309"/>
                  </a:lnTo>
                  <a:lnTo>
                    <a:pt x="4151376" y="2535936"/>
                  </a:lnTo>
                  <a:lnTo>
                    <a:pt x="109727" y="2535936"/>
                  </a:lnTo>
                  <a:lnTo>
                    <a:pt x="67026" y="2527309"/>
                  </a:lnTo>
                  <a:lnTo>
                    <a:pt x="32146" y="2503789"/>
                  </a:lnTo>
                  <a:lnTo>
                    <a:pt x="8626" y="2468909"/>
                  </a:lnTo>
                  <a:lnTo>
                    <a:pt x="0" y="2426208"/>
                  </a:lnTo>
                  <a:lnTo>
                    <a:pt x="0" y="109727"/>
                  </a:lnTo>
                  <a:close/>
                </a:path>
              </a:pathLst>
            </a:custGeom>
            <a:ln w="2438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60264" y="2380487"/>
              <a:ext cx="91440" cy="2536190"/>
            </a:xfrm>
            <a:custGeom>
              <a:avLst/>
              <a:gdLst/>
              <a:ahLst/>
              <a:cxnLst/>
              <a:rect l="l" t="t" r="r" b="b"/>
              <a:pathLst>
                <a:path w="91439" h="2536190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490216"/>
                  </a:lnTo>
                  <a:lnTo>
                    <a:pt x="3589" y="2508021"/>
                  </a:lnTo>
                  <a:lnTo>
                    <a:pt x="13382" y="2522553"/>
                  </a:lnTo>
                  <a:lnTo>
                    <a:pt x="27914" y="2532346"/>
                  </a:lnTo>
                  <a:lnTo>
                    <a:pt x="45720" y="2535936"/>
                  </a:lnTo>
                  <a:lnTo>
                    <a:pt x="63525" y="2532346"/>
                  </a:lnTo>
                  <a:lnTo>
                    <a:pt x="78057" y="2522553"/>
                  </a:lnTo>
                  <a:lnTo>
                    <a:pt x="87850" y="2508021"/>
                  </a:lnTo>
                  <a:lnTo>
                    <a:pt x="91439" y="2490216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468873" y="2580512"/>
            <a:ext cx="3467100" cy="1756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80">
                <a:solidFill>
                  <a:srgbClr val="3A4E4E"/>
                </a:solidFill>
                <a:latin typeface="Malgun Gothic Semilight"/>
                <a:cs typeface="Malgun Gothic Semilight"/>
              </a:rPr>
              <a:t>Sulphur</a:t>
            </a:r>
            <a:r>
              <a:rPr dirty="0" sz="2000" spc="20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65">
                <a:solidFill>
                  <a:srgbClr val="3A4E4E"/>
                </a:solidFill>
                <a:latin typeface="Malgun Gothic Semilight"/>
                <a:cs typeface="Malgun Gothic Semilight"/>
              </a:rPr>
              <a:t>Dioxide</a:t>
            </a:r>
            <a:r>
              <a:rPr dirty="0" sz="2000" spc="10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30">
                <a:solidFill>
                  <a:srgbClr val="3A4E4E"/>
                </a:solidFill>
                <a:latin typeface="Malgun Gothic Semilight"/>
                <a:cs typeface="Malgun Gothic Semilight"/>
              </a:rPr>
              <a:t>(SO2)</a:t>
            </a:r>
            <a:endParaRPr sz="20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6300"/>
              </a:lnSpc>
              <a:spcBef>
                <a:spcPts val="765"/>
              </a:spcBef>
            </a:pP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Released</a:t>
            </a:r>
            <a:r>
              <a:rPr dirty="0" sz="160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from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burning</a:t>
            </a:r>
            <a:r>
              <a:rPr dirty="0" sz="160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fossil</a:t>
            </a:r>
            <a:r>
              <a:rPr dirty="0" sz="16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fuels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in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power</a:t>
            </a:r>
            <a:r>
              <a:rPr dirty="0" sz="160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plants</a:t>
            </a:r>
            <a:r>
              <a:rPr dirty="0" sz="160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industrial</a:t>
            </a:r>
            <a:r>
              <a:rPr dirty="0" sz="16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processes, </a:t>
            </a:r>
            <a:r>
              <a:rPr dirty="0" sz="1600" spc="60">
                <a:solidFill>
                  <a:srgbClr val="3A4E4E"/>
                </a:solidFill>
                <a:latin typeface="Tahoma"/>
                <a:cs typeface="Tahoma"/>
              </a:rPr>
              <a:t>SO2</a:t>
            </a:r>
            <a:r>
              <a:rPr dirty="0" sz="160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can</a:t>
            </a:r>
            <a:r>
              <a:rPr dirty="0" sz="160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cause</a:t>
            </a:r>
            <a:r>
              <a:rPr dirty="0" sz="160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respiratory</a:t>
            </a:r>
            <a:r>
              <a:rPr dirty="0" sz="1600" spc="-1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issues</a:t>
            </a:r>
            <a:r>
              <a:rPr dirty="0" sz="16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and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contributes</a:t>
            </a:r>
            <a:r>
              <a:rPr dirty="0" sz="16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60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acid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rain.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628631" y="2368295"/>
            <a:ext cx="4297680" cy="2560320"/>
            <a:chOff x="9628631" y="2368295"/>
            <a:chExt cx="4297680" cy="2560320"/>
          </a:xfrm>
        </p:grpSpPr>
        <p:sp>
          <p:nvSpPr>
            <p:cNvPr id="15" name="object 15" descr=""/>
            <p:cNvSpPr/>
            <p:nvPr/>
          </p:nvSpPr>
          <p:spPr>
            <a:xfrm>
              <a:off x="9649967" y="2380487"/>
              <a:ext cx="4264660" cy="2536190"/>
            </a:xfrm>
            <a:custGeom>
              <a:avLst/>
              <a:gdLst/>
              <a:ahLst/>
              <a:cxnLst/>
              <a:rect l="l" t="t" r="r" b="b"/>
              <a:pathLst>
                <a:path w="4264659" h="2536190">
                  <a:moveTo>
                    <a:pt x="4154424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426208"/>
                  </a:lnTo>
                  <a:lnTo>
                    <a:pt x="8626" y="2468909"/>
                  </a:lnTo>
                  <a:lnTo>
                    <a:pt x="32146" y="2503789"/>
                  </a:lnTo>
                  <a:lnTo>
                    <a:pt x="67026" y="2527309"/>
                  </a:lnTo>
                  <a:lnTo>
                    <a:pt x="109727" y="2535936"/>
                  </a:lnTo>
                  <a:lnTo>
                    <a:pt x="4154424" y="2535936"/>
                  </a:lnTo>
                  <a:lnTo>
                    <a:pt x="4197125" y="2527309"/>
                  </a:lnTo>
                  <a:lnTo>
                    <a:pt x="4232005" y="2503789"/>
                  </a:lnTo>
                  <a:lnTo>
                    <a:pt x="4255525" y="2468909"/>
                  </a:lnTo>
                  <a:lnTo>
                    <a:pt x="4264151" y="2426208"/>
                  </a:lnTo>
                  <a:lnTo>
                    <a:pt x="4264151" y="109727"/>
                  </a:lnTo>
                  <a:lnTo>
                    <a:pt x="4255525" y="67026"/>
                  </a:lnTo>
                  <a:lnTo>
                    <a:pt x="4232005" y="32146"/>
                  </a:lnTo>
                  <a:lnTo>
                    <a:pt x="4197125" y="8626"/>
                  </a:lnTo>
                  <a:lnTo>
                    <a:pt x="4154424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649967" y="2380487"/>
              <a:ext cx="4264660" cy="2536190"/>
            </a:xfrm>
            <a:custGeom>
              <a:avLst/>
              <a:gdLst/>
              <a:ahLst/>
              <a:cxnLst/>
              <a:rect l="l" t="t" r="r" b="b"/>
              <a:pathLst>
                <a:path w="4264659" h="253619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54424" y="0"/>
                  </a:lnTo>
                  <a:lnTo>
                    <a:pt x="4197125" y="8626"/>
                  </a:lnTo>
                  <a:lnTo>
                    <a:pt x="4232005" y="32146"/>
                  </a:lnTo>
                  <a:lnTo>
                    <a:pt x="4255525" y="67026"/>
                  </a:lnTo>
                  <a:lnTo>
                    <a:pt x="4264151" y="109727"/>
                  </a:lnTo>
                  <a:lnTo>
                    <a:pt x="4264151" y="2426208"/>
                  </a:lnTo>
                  <a:lnTo>
                    <a:pt x="4255525" y="2468909"/>
                  </a:lnTo>
                  <a:lnTo>
                    <a:pt x="4232005" y="2503789"/>
                  </a:lnTo>
                  <a:lnTo>
                    <a:pt x="4197125" y="2527309"/>
                  </a:lnTo>
                  <a:lnTo>
                    <a:pt x="4154424" y="2535936"/>
                  </a:lnTo>
                  <a:lnTo>
                    <a:pt x="109727" y="2535936"/>
                  </a:lnTo>
                  <a:lnTo>
                    <a:pt x="67026" y="2527309"/>
                  </a:lnTo>
                  <a:lnTo>
                    <a:pt x="32146" y="2503789"/>
                  </a:lnTo>
                  <a:lnTo>
                    <a:pt x="8626" y="2468909"/>
                  </a:lnTo>
                  <a:lnTo>
                    <a:pt x="0" y="2426208"/>
                  </a:lnTo>
                  <a:lnTo>
                    <a:pt x="0" y="109727"/>
                  </a:lnTo>
                  <a:close/>
                </a:path>
              </a:pathLst>
            </a:custGeom>
            <a:ln w="2438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628631" y="2380487"/>
              <a:ext cx="91440" cy="2536190"/>
            </a:xfrm>
            <a:custGeom>
              <a:avLst/>
              <a:gdLst/>
              <a:ahLst/>
              <a:cxnLst/>
              <a:rect l="l" t="t" r="r" b="b"/>
              <a:pathLst>
                <a:path w="91440" h="2536190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490216"/>
                  </a:lnTo>
                  <a:lnTo>
                    <a:pt x="3589" y="2508021"/>
                  </a:lnTo>
                  <a:lnTo>
                    <a:pt x="13382" y="2522553"/>
                  </a:lnTo>
                  <a:lnTo>
                    <a:pt x="27914" y="2532346"/>
                  </a:lnTo>
                  <a:lnTo>
                    <a:pt x="45720" y="2535936"/>
                  </a:lnTo>
                  <a:lnTo>
                    <a:pt x="63525" y="2532346"/>
                  </a:lnTo>
                  <a:lnTo>
                    <a:pt x="78057" y="2522553"/>
                  </a:lnTo>
                  <a:lnTo>
                    <a:pt x="87850" y="2508021"/>
                  </a:lnTo>
                  <a:lnTo>
                    <a:pt x="91440" y="2490216"/>
                  </a:lnTo>
                  <a:lnTo>
                    <a:pt x="91440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36860" y="2580512"/>
            <a:ext cx="3763645" cy="1756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3A4E4E"/>
                </a:solidFill>
                <a:latin typeface="Malgun Gothic Semilight"/>
                <a:cs typeface="Malgun Gothic Semilight"/>
              </a:rPr>
              <a:t>Lead</a:t>
            </a:r>
            <a:r>
              <a:rPr dirty="0" sz="2000" spc="14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20">
                <a:solidFill>
                  <a:srgbClr val="3A4E4E"/>
                </a:solidFill>
                <a:latin typeface="Malgun Gothic Semilight"/>
                <a:cs typeface="Malgun Gothic Semilight"/>
              </a:rPr>
              <a:t>(Pb)</a:t>
            </a:r>
            <a:endParaRPr sz="20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6300"/>
              </a:lnSpc>
              <a:spcBef>
                <a:spcPts val="765"/>
              </a:spcBef>
            </a:pP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Emitted</a:t>
            </a:r>
            <a:r>
              <a:rPr dirty="0" sz="160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from</a:t>
            </a:r>
            <a:r>
              <a:rPr dirty="0" sz="160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industrial</a:t>
            </a:r>
            <a:r>
              <a:rPr dirty="0" sz="1600" spc="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sources</a:t>
            </a:r>
            <a:r>
              <a:rPr dirty="0" sz="1600" spc="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and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historically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from</a:t>
            </a:r>
            <a:r>
              <a:rPr dirty="0" sz="1600" spc="-1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leaded</a:t>
            </a:r>
            <a:r>
              <a:rPr dirty="0" sz="160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gasoline,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lead</a:t>
            </a:r>
            <a:r>
              <a:rPr dirty="0" sz="160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is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3A4E4E"/>
                </a:solidFill>
                <a:latin typeface="Tahoma"/>
                <a:cs typeface="Tahoma"/>
              </a:rPr>
              <a:t>a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highly</a:t>
            </a:r>
            <a:r>
              <a:rPr dirty="0" sz="16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toxic</a:t>
            </a:r>
            <a:r>
              <a:rPr dirty="0" sz="160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metal</a:t>
            </a:r>
            <a:r>
              <a:rPr dirty="0" sz="16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affecting</a:t>
            </a:r>
            <a:r>
              <a:rPr dirty="0" sz="160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neurological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development,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especially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children.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94944" y="5108447"/>
            <a:ext cx="4297680" cy="2560320"/>
            <a:chOff x="694944" y="5108447"/>
            <a:chExt cx="4297680" cy="2560320"/>
          </a:xfrm>
        </p:grpSpPr>
        <p:sp>
          <p:nvSpPr>
            <p:cNvPr id="20" name="object 20" descr=""/>
            <p:cNvSpPr/>
            <p:nvPr/>
          </p:nvSpPr>
          <p:spPr>
            <a:xfrm>
              <a:off x="716280" y="5120639"/>
              <a:ext cx="4264660" cy="2536190"/>
            </a:xfrm>
            <a:custGeom>
              <a:avLst/>
              <a:gdLst/>
              <a:ahLst/>
              <a:cxnLst/>
              <a:rect l="l" t="t" r="r" b="b"/>
              <a:pathLst>
                <a:path w="4264660" h="2536190">
                  <a:moveTo>
                    <a:pt x="4154424" y="0"/>
                  </a:moveTo>
                  <a:lnTo>
                    <a:pt x="109702" y="0"/>
                  </a:lnTo>
                  <a:lnTo>
                    <a:pt x="66999" y="8626"/>
                  </a:lnTo>
                  <a:lnTo>
                    <a:pt x="32129" y="32146"/>
                  </a:lnTo>
                  <a:lnTo>
                    <a:pt x="8620" y="67026"/>
                  </a:lnTo>
                  <a:lnTo>
                    <a:pt x="0" y="109728"/>
                  </a:lnTo>
                  <a:lnTo>
                    <a:pt x="0" y="2426233"/>
                  </a:lnTo>
                  <a:lnTo>
                    <a:pt x="8620" y="2468936"/>
                  </a:lnTo>
                  <a:lnTo>
                    <a:pt x="32129" y="2503806"/>
                  </a:lnTo>
                  <a:lnTo>
                    <a:pt x="66999" y="2527315"/>
                  </a:lnTo>
                  <a:lnTo>
                    <a:pt x="109702" y="2535936"/>
                  </a:lnTo>
                  <a:lnTo>
                    <a:pt x="4154424" y="2535936"/>
                  </a:lnTo>
                  <a:lnTo>
                    <a:pt x="4197125" y="2527315"/>
                  </a:lnTo>
                  <a:lnTo>
                    <a:pt x="4232005" y="2503806"/>
                  </a:lnTo>
                  <a:lnTo>
                    <a:pt x="4255525" y="2468936"/>
                  </a:lnTo>
                  <a:lnTo>
                    <a:pt x="4264152" y="2426233"/>
                  </a:lnTo>
                  <a:lnTo>
                    <a:pt x="4264152" y="109728"/>
                  </a:lnTo>
                  <a:lnTo>
                    <a:pt x="4255525" y="67026"/>
                  </a:lnTo>
                  <a:lnTo>
                    <a:pt x="4232005" y="32146"/>
                  </a:lnTo>
                  <a:lnTo>
                    <a:pt x="4197125" y="8626"/>
                  </a:lnTo>
                  <a:lnTo>
                    <a:pt x="4154424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16280" y="5120639"/>
              <a:ext cx="4264660" cy="2536190"/>
            </a:xfrm>
            <a:custGeom>
              <a:avLst/>
              <a:gdLst/>
              <a:ahLst/>
              <a:cxnLst/>
              <a:rect l="l" t="t" r="r" b="b"/>
              <a:pathLst>
                <a:path w="4264660" h="2536190">
                  <a:moveTo>
                    <a:pt x="0" y="109728"/>
                  </a:moveTo>
                  <a:lnTo>
                    <a:pt x="8620" y="67026"/>
                  </a:lnTo>
                  <a:lnTo>
                    <a:pt x="32129" y="32146"/>
                  </a:lnTo>
                  <a:lnTo>
                    <a:pt x="66999" y="8626"/>
                  </a:lnTo>
                  <a:lnTo>
                    <a:pt x="109702" y="0"/>
                  </a:lnTo>
                  <a:lnTo>
                    <a:pt x="4154424" y="0"/>
                  </a:lnTo>
                  <a:lnTo>
                    <a:pt x="4197125" y="8626"/>
                  </a:lnTo>
                  <a:lnTo>
                    <a:pt x="4232005" y="32146"/>
                  </a:lnTo>
                  <a:lnTo>
                    <a:pt x="4255525" y="67026"/>
                  </a:lnTo>
                  <a:lnTo>
                    <a:pt x="4264152" y="109728"/>
                  </a:lnTo>
                  <a:lnTo>
                    <a:pt x="4264152" y="2426233"/>
                  </a:lnTo>
                  <a:lnTo>
                    <a:pt x="4255525" y="2468936"/>
                  </a:lnTo>
                  <a:lnTo>
                    <a:pt x="4232005" y="2503806"/>
                  </a:lnTo>
                  <a:lnTo>
                    <a:pt x="4197125" y="2527315"/>
                  </a:lnTo>
                  <a:lnTo>
                    <a:pt x="4154424" y="2535936"/>
                  </a:lnTo>
                  <a:lnTo>
                    <a:pt x="109702" y="2535936"/>
                  </a:lnTo>
                  <a:lnTo>
                    <a:pt x="66999" y="2527315"/>
                  </a:lnTo>
                  <a:lnTo>
                    <a:pt x="32129" y="2503806"/>
                  </a:lnTo>
                  <a:lnTo>
                    <a:pt x="8620" y="2468936"/>
                  </a:lnTo>
                  <a:lnTo>
                    <a:pt x="0" y="2426233"/>
                  </a:lnTo>
                  <a:lnTo>
                    <a:pt x="0" y="109728"/>
                  </a:lnTo>
                  <a:close/>
                </a:path>
              </a:pathLst>
            </a:custGeom>
            <a:ln w="2438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94944" y="5120639"/>
              <a:ext cx="91440" cy="2536190"/>
            </a:xfrm>
            <a:custGeom>
              <a:avLst/>
              <a:gdLst/>
              <a:ahLst/>
              <a:cxnLst/>
              <a:rect l="l" t="t" r="r" b="b"/>
              <a:pathLst>
                <a:path w="91440" h="2536190">
                  <a:moveTo>
                    <a:pt x="45720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490216"/>
                  </a:lnTo>
                  <a:lnTo>
                    <a:pt x="3593" y="2508011"/>
                  </a:lnTo>
                  <a:lnTo>
                    <a:pt x="13392" y="2522543"/>
                  </a:lnTo>
                  <a:lnTo>
                    <a:pt x="27924" y="2532342"/>
                  </a:lnTo>
                  <a:lnTo>
                    <a:pt x="45720" y="2535936"/>
                  </a:lnTo>
                  <a:lnTo>
                    <a:pt x="63515" y="2532342"/>
                  </a:lnTo>
                  <a:lnTo>
                    <a:pt x="78047" y="2522543"/>
                  </a:lnTo>
                  <a:lnTo>
                    <a:pt x="87846" y="2508011"/>
                  </a:lnTo>
                  <a:lnTo>
                    <a:pt x="91440" y="2490216"/>
                  </a:lnTo>
                  <a:lnTo>
                    <a:pt x="91440" y="45720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00760" y="5322265"/>
            <a:ext cx="3607435" cy="1757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45">
                <a:solidFill>
                  <a:srgbClr val="3A4E4E"/>
                </a:solidFill>
                <a:latin typeface="Malgun Gothic Semilight"/>
                <a:cs typeface="Malgun Gothic Semilight"/>
              </a:rPr>
              <a:t>Ammonia</a:t>
            </a:r>
            <a:r>
              <a:rPr dirty="0" sz="2000" spc="20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(NH3)</a:t>
            </a:r>
            <a:endParaRPr sz="20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6300"/>
              </a:lnSpc>
              <a:spcBef>
                <a:spcPts val="765"/>
              </a:spcBef>
            </a:pP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Primarily</a:t>
            </a:r>
            <a:r>
              <a:rPr dirty="0" sz="16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from</a:t>
            </a:r>
            <a:r>
              <a:rPr dirty="0" sz="160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agricultural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 emissions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(fertilizers,</a:t>
            </a:r>
            <a:r>
              <a:rPr dirty="0" sz="160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livestock</a:t>
            </a:r>
            <a:r>
              <a:rPr dirty="0" sz="1600" spc="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3A4E4E"/>
                </a:solidFill>
                <a:latin typeface="Tahoma"/>
                <a:cs typeface="Tahoma"/>
              </a:rPr>
              <a:t>waste),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3A4E4E"/>
                </a:solidFill>
                <a:latin typeface="Tahoma"/>
                <a:cs typeface="Tahoma"/>
              </a:rPr>
              <a:t>NH3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reacts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6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atmosphere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60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form</a:t>
            </a:r>
            <a:r>
              <a:rPr dirty="0" sz="160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harmful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fine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particulate</a:t>
            </a:r>
            <a:r>
              <a:rPr dirty="0" sz="1600" spc="1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matter.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160264" y="5108447"/>
            <a:ext cx="4297680" cy="2560320"/>
            <a:chOff x="5160264" y="5108447"/>
            <a:chExt cx="4297680" cy="2560320"/>
          </a:xfrm>
        </p:grpSpPr>
        <p:sp>
          <p:nvSpPr>
            <p:cNvPr id="25" name="object 25" descr=""/>
            <p:cNvSpPr/>
            <p:nvPr/>
          </p:nvSpPr>
          <p:spPr>
            <a:xfrm>
              <a:off x="5184648" y="5120639"/>
              <a:ext cx="4261485" cy="2536190"/>
            </a:xfrm>
            <a:custGeom>
              <a:avLst/>
              <a:gdLst/>
              <a:ahLst/>
              <a:cxnLst/>
              <a:rect l="l" t="t" r="r" b="b"/>
              <a:pathLst>
                <a:path w="4261484" h="2536190">
                  <a:moveTo>
                    <a:pt x="4151376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2426233"/>
                  </a:lnTo>
                  <a:lnTo>
                    <a:pt x="8626" y="2468931"/>
                  </a:lnTo>
                  <a:lnTo>
                    <a:pt x="32146" y="2503801"/>
                  </a:lnTo>
                  <a:lnTo>
                    <a:pt x="67026" y="2527313"/>
                  </a:lnTo>
                  <a:lnTo>
                    <a:pt x="109727" y="2535936"/>
                  </a:lnTo>
                  <a:lnTo>
                    <a:pt x="4151376" y="2535936"/>
                  </a:lnTo>
                  <a:lnTo>
                    <a:pt x="4194077" y="2527313"/>
                  </a:lnTo>
                  <a:lnTo>
                    <a:pt x="4228957" y="2503801"/>
                  </a:lnTo>
                  <a:lnTo>
                    <a:pt x="4252477" y="2468931"/>
                  </a:lnTo>
                  <a:lnTo>
                    <a:pt x="4261104" y="2426233"/>
                  </a:lnTo>
                  <a:lnTo>
                    <a:pt x="4261104" y="109728"/>
                  </a:lnTo>
                  <a:lnTo>
                    <a:pt x="4252477" y="67026"/>
                  </a:lnTo>
                  <a:lnTo>
                    <a:pt x="4228957" y="32146"/>
                  </a:lnTo>
                  <a:lnTo>
                    <a:pt x="4194077" y="8626"/>
                  </a:lnTo>
                  <a:lnTo>
                    <a:pt x="4151376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184648" y="5120639"/>
              <a:ext cx="4261485" cy="2536190"/>
            </a:xfrm>
            <a:custGeom>
              <a:avLst/>
              <a:gdLst/>
              <a:ahLst/>
              <a:cxnLst/>
              <a:rect l="l" t="t" r="r" b="b"/>
              <a:pathLst>
                <a:path w="4261484" h="253619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51376" y="0"/>
                  </a:lnTo>
                  <a:lnTo>
                    <a:pt x="4194077" y="8626"/>
                  </a:lnTo>
                  <a:lnTo>
                    <a:pt x="4228957" y="32146"/>
                  </a:lnTo>
                  <a:lnTo>
                    <a:pt x="4252477" y="67026"/>
                  </a:lnTo>
                  <a:lnTo>
                    <a:pt x="4261104" y="109728"/>
                  </a:lnTo>
                  <a:lnTo>
                    <a:pt x="4261104" y="2426233"/>
                  </a:lnTo>
                  <a:lnTo>
                    <a:pt x="4252477" y="2468931"/>
                  </a:lnTo>
                  <a:lnTo>
                    <a:pt x="4228957" y="2503801"/>
                  </a:lnTo>
                  <a:lnTo>
                    <a:pt x="4194077" y="2527313"/>
                  </a:lnTo>
                  <a:lnTo>
                    <a:pt x="4151376" y="2535936"/>
                  </a:lnTo>
                  <a:lnTo>
                    <a:pt x="109727" y="2535936"/>
                  </a:lnTo>
                  <a:lnTo>
                    <a:pt x="67026" y="2527313"/>
                  </a:lnTo>
                  <a:lnTo>
                    <a:pt x="32146" y="2503801"/>
                  </a:lnTo>
                  <a:lnTo>
                    <a:pt x="8626" y="2468931"/>
                  </a:lnTo>
                  <a:lnTo>
                    <a:pt x="0" y="2426233"/>
                  </a:lnTo>
                  <a:lnTo>
                    <a:pt x="0" y="109728"/>
                  </a:lnTo>
                  <a:close/>
                </a:path>
              </a:pathLst>
            </a:custGeom>
            <a:ln w="2438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160264" y="5120639"/>
              <a:ext cx="91440" cy="2536190"/>
            </a:xfrm>
            <a:custGeom>
              <a:avLst/>
              <a:gdLst/>
              <a:ahLst/>
              <a:cxnLst/>
              <a:rect l="l" t="t" r="r" b="b"/>
              <a:pathLst>
                <a:path w="91439" h="2536190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490216"/>
                  </a:lnTo>
                  <a:lnTo>
                    <a:pt x="3589" y="2508011"/>
                  </a:lnTo>
                  <a:lnTo>
                    <a:pt x="13382" y="2522543"/>
                  </a:lnTo>
                  <a:lnTo>
                    <a:pt x="27914" y="2532342"/>
                  </a:lnTo>
                  <a:lnTo>
                    <a:pt x="45720" y="2535936"/>
                  </a:lnTo>
                  <a:lnTo>
                    <a:pt x="63525" y="2532342"/>
                  </a:lnTo>
                  <a:lnTo>
                    <a:pt x="78057" y="2522543"/>
                  </a:lnTo>
                  <a:lnTo>
                    <a:pt x="87850" y="2508011"/>
                  </a:lnTo>
                  <a:lnTo>
                    <a:pt x="91439" y="2490216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468873" y="5322265"/>
            <a:ext cx="3304540" cy="2085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solidFill>
                  <a:srgbClr val="3A4E4E"/>
                </a:solidFill>
                <a:latin typeface="Malgun Gothic Semilight"/>
                <a:cs typeface="Malgun Gothic Semilight"/>
              </a:rPr>
              <a:t>Nitrogen</a:t>
            </a:r>
            <a:r>
              <a:rPr dirty="0" sz="2000" spc="204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65">
                <a:solidFill>
                  <a:srgbClr val="3A4E4E"/>
                </a:solidFill>
                <a:latin typeface="Malgun Gothic Semilight"/>
                <a:cs typeface="Malgun Gothic Semilight"/>
              </a:rPr>
              <a:t>Dioxide</a:t>
            </a:r>
            <a:r>
              <a:rPr dirty="0" sz="2000" spc="26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20">
                <a:solidFill>
                  <a:srgbClr val="3A4E4E"/>
                </a:solidFill>
                <a:latin typeface="Malgun Gothic Semilight"/>
                <a:cs typeface="Malgun Gothic Semilight"/>
              </a:rPr>
              <a:t>(NO2)</a:t>
            </a:r>
            <a:endParaRPr sz="20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6000"/>
              </a:lnSpc>
              <a:spcBef>
                <a:spcPts val="770"/>
              </a:spcBef>
            </a:pPr>
            <a:r>
              <a:rPr dirty="0" sz="1600" spc="105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reddish-brown</a:t>
            </a:r>
            <a:r>
              <a:rPr dirty="0" sz="16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gas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from</a:t>
            </a:r>
            <a:r>
              <a:rPr dirty="0" sz="160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vehicle engines,</a:t>
            </a:r>
            <a:r>
              <a:rPr dirty="0" sz="1600" spc="-1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power</a:t>
            </a:r>
            <a:r>
              <a:rPr dirty="0" sz="1600" spc="-1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plants,</a:t>
            </a:r>
            <a:r>
              <a:rPr dirty="0" sz="160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industrial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boilers,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3A4E4E"/>
                </a:solidFill>
                <a:latin typeface="Tahoma"/>
                <a:cs typeface="Tahoma"/>
              </a:rPr>
              <a:t>NO2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contributes</a:t>
            </a:r>
            <a:r>
              <a:rPr dirty="0" sz="16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60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smog,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respiratory</a:t>
            </a:r>
            <a:r>
              <a:rPr dirty="0" sz="160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illnesses,</a:t>
            </a:r>
            <a:r>
              <a:rPr dirty="0" sz="16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acid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rain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formation.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574037"/>
            <a:ext cx="5279390" cy="5670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b="1">
                <a:latin typeface="Arial"/>
                <a:cs typeface="Arial"/>
              </a:rPr>
              <a:t>Measuring</a:t>
            </a:r>
            <a:r>
              <a:rPr dirty="0" sz="3550" spc="-8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Air</a:t>
            </a:r>
            <a:r>
              <a:rPr dirty="0" sz="3550" spc="30" b="1">
                <a:latin typeface="Arial"/>
                <a:cs typeface="Arial"/>
              </a:rPr>
              <a:t> </a:t>
            </a:r>
            <a:r>
              <a:rPr dirty="0" sz="3550" spc="-40" b="1">
                <a:latin typeface="Arial"/>
                <a:cs typeface="Arial"/>
              </a:rPr>
              <a:t>Pollutants</a:t>
            </a:r>
            <a:endParaRPr sz="35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2627376"/>
            <a:ext cx="682752" cy="6797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5407" y="2627376"/>
            <a:ext cx="682751" cy="6797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4852415"/>
            <a:ext cx="682752" cy="67970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745360" y="2795397"/>
            <a:ext cx="5299710" cy="3804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45" b="1">
                <a:solidFill>
                  <a:srgbClr val="3A4E4E"/>
                </a:solidFill>
                <a:latin typeface="Arial"/>
                <a:cs typeface="Arial"/>
              </a:rPr>
              <a:t>Gas</a:t>
            </a:r>
            <a:r>
              <a:rPr dirty="0" sz="2200" spc="-14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Analyzers</a:t>
            </a:r>
            <a:endParaRPr sz="2200">
              <a:latin typeface="Arial"/>
              <a:cs typeface="Arial"/>
            </a:endParaRPr>
          </a:p>
          <a:p>
            <a:pPr marL="12700" marR="187960">
              <a:lnSpc>
                <a:spcPct val="139500"/>
              </a:lnSpc>
              <a:spcBef>
                <a:spcPts val="79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Specialized</a:t>
            </a:r>
            <a:r>
              <a:rPr dirty="0" sz="1750" spc="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sensors</a:t>
            </a:r>
            <a:r>
              <a:rPr dirty="0" sz="1750" spc="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continuously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monitor</a:t>
            </a:r>
            <a:r>
              <a:rPr dirty="0" sz="1750" spc="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gases</a:t>
            </a:r>
            <a:r>
              <a:rPr dirty="0" sz="1750" spc="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like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CO,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SO2,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3A4E4E"/>
                </a:solidFill>
                <a:latin typeface="Tahoma"/>
                <a:cs typeface="Tahoma"/>
              </a:rPr>
              <a:t>NO2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using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various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spectroscopic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and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electrochemical</a:t>
            </a:r>
            <a:r>
              <a:rPr dirty="0" sz="1750" spc="1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methods.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200" spc="-30" b="1">
                <a:solidFill>
                  <a:srgbClr val="3A4E4E"/>
                </a:solidFill>
                <a:latin typeface="Arial"/>
                <a:cs typeface="Arial"/>
              </a:rPr>
              <a:t>Chemical</a:t>
            </a:r>
            <a:r>
              <a:rPr dirty="0" sz="2200" spc="-9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Analysis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500"/>
              </a:lnSpc>
              <a:spcBef>
                <a:spcPts val="800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Samples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collected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on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 filters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or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impinger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solutions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are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analyzed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laboratories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heavy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metals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like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lead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other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specific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compounds.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5407" y="4852415"/>
            <a:ext cx="682751" cy="67970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409813" y="2795397"/>
            <a:ext cx="5212080" cy="3804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20" b="1">
                <a:solidFill>
                  <a:srgbClr val="3A4E4E"/>
                </a:solidFill>
                <a:latin typeface="Arial"/>
                <a:cs typeface="Arial"/>
              </a:rPr>
              <a:t>Particulate</a:t>
            </a:r>
            <a:r>
              <a:rPr dirty="0" sz="2200" spc="-6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Counters</a:t>
            </a:r>
            <a:endParaRPr sz="2200">
              <a:latin typeface="Arial"/>
              <a:cs typeface="Arial"/>
            </a:endParaRPr>
          </a:p>
          <a:p>
            <a:pPr marL="12700" marR="379095">
              <a:lnSpc>
                <a:spcPct val="139500"/>
              </a:lnSpc>
              <a:spcBef>
                <a:spcPts val="79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Laser-based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instruments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count</a:t>
            </a:r>
            <a:r>
              <a:rPr dirty="0" sz="1750" spc="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size</a:t>
            </a:r>
            <a:r>
              <a:rPr dirty="0" sz="175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airborne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particles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(PM2.5,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PM10)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determine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their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concentration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atmosphere.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Remote</a:t>
            </a:r>
            <a:r>
              <a:rPr dirty="0" sz="2200" spc="-3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Sensing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500"/>
              </a:lnSpc>
              <a:spcBef>
                <a:spcPts val="800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Satellite</a:t>
            </a:r>
            <a:r>
              <a:rPr dirty="0" sz="175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ground-based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remote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sensing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technologies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provide broader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spatial coverage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air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750" spc="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monitoring.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642569"/>
            <a:ext cx="7276465" cy="5676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35120" algn="l"/>
              </a:tabLst>
            </a:pPr>
            <a:r>
              <a:rPr dirty="0" sz="3550"/>
              <a:t>Major</a:t>
            </a:r>
            <a:r>
              <a:rPr dirty="0" sz="3550" spc="204"/>
              <a:t> </a:t>
            </a:r>
            <a:r>
              <a:rPr dirty="0" sz="3550" spc="75"/>
              <a:t>Contributors</a:t>
            </a:r>
            <a:r>
              <a:rPr dirty="0" sz="3550"/>
              <a:t>	to</a:t>
            </a:r>
            <a:r>
              <a:rPr dirty="0" sz="3550" spc="-15"/>
              <a:t> </a:t>
            </a:r>
            <a:r>
              <a:rPr dirty="0" sz="3550" spc="100"/>
              <a:t>Air</a:t>
            </a:r>
            <a:r>
              <a:rPr dirty="0" sz="3550" spc="245"/>
              <a:t> </a:t>
            </a:r>
            <a:r>
              <a:rPr dirty="0" sz="3550" spc="75"/>
              <a:t>Pollution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1502577"/>
            <a:ext cx="12823825" cy="77660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While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industrial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emissions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stubble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burning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often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dominate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headlines,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numerous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other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sources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contribute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significantly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urban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pollution.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Understanding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these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varied contributors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is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key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effective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mitigation.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92480" y="2563367"/>
            <a:ext cx="6410325" cy="2383790"/>
            <a:chOff x="792480" y="2563367"/>
            <a:chExt cx="6410325" cy="2383790"/>
          </a:xfrm>
        </p:grpSpPr>
        <p:sp>
          <p:nvSpPr>
            <p:cNvPr id="5" name="object 5" descr=""/>
            <p:cNvSpPr/>
            <p:nvPr/>
          </p:nvSpPr>
          <p:spPr>
            <a:xfrm>
              <a:off x="792480" y="2904743"/>
              <a:ext cx="6410325" cy="2042160"/>
            </a:xfrm>
            <a:custGeom>
              <a:avLst/>
              <a:gdLst/>
              <a:ahLst/>
              <a:cxnLst/>
              <a:rect l="l" t="t" r="r" b="b"/>
              <a:pathLst>
                <a:path w="6410325" h="2042160">
                  <a:moveTo>
                    <a:pt x="6263513" y="0"/>
                  </a:moveTo>
                  <a:lnTo>
                    <a:pt x="146431" y="0"/>
                  </a:lnTo>
                  <a:lnTo>
                    <a:pt x="100146" y="7462"/>
                  </a:lnTo>
                  <a:lnTo>
                    <a:pt x="59949" y="28244"/>
                  </a:lnTo>
                  <a:lnTo>
                    <a:pt x="28252" y="59938"/>
                  </a:lnTo>
                  <a:lnTo>
                    <a:pt x="7464" y="100136"/>
                  </a:lnTo>
                  <a:lnTo>
                    <a:pt x="0" y="146430"/>
                  </a:lnTo>
                  <a:lnTo>
                    <a:pt x="0" y="1895728"/>
                  </a:lnTo>
                  <a:lnTo>
                    <a:pt x="7464" y="1942023"/>
                  </a:lnTo>
                  <a:lnTo>
                    <a:pt x="28252" y="1982221"/>
                  </a:lnTo>
                  <a:lnTo>
                    <a:pt x="59949" y="2013915"/>
                  </a:lnTo>
                  <a:lnTo>
                    <a:pt x="100146" y="2034697"/>
                  </a:lnTo>
                  <a:lnTo>
                    <a:pt x="146431" y="2042159"/>
                  </a:lnTo>
                  <a:lnTo>
                    <a:pt x="6263513" y="2042159"/>
                  </a:lnTo>
                  <a:lnTo>
                    <a:pt x="6309807" y="2034697"/>
                  </a:lnTo>
                  <a:lnTo>
                    <a:pt x="6350005" y="2013915"/>
                  </a:lnTo>
                  <a:lnTo>
                    <a:pt x="6381699" y="1982221"/>
                  </a:lnTo>
                  <a:lnTo>
                    <a:pt x="6402481" y="1942023"/>
                  </a:lnTo>
                  <a:lnTo>
                    <a:pt x="6409944" y="1895728"/>
                  </a:lnTo>
                  <a:lnTo>
                    <a:pt x="6409944" y="146430"/>
                  </a:lnTo>
                  <a:lnTo>
                    <a:pt x="6402481" y="100136"/>
                  </a:lnTo>
                  <a:lnTo>
                    <a:pt x="6381699" y="59938"/>
                  </a:lnTo>
                  <a:lnTo>
                    <a:pt x="6350005" y="28244"/>
                  </a:lnTo>
                  <a:lnTo>
                    <a:pt x="6309807" y="7462"/>
                  </a:lnTo>
                  <a:lnTo>
                    <a:pt x="6263513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2480" y="2563367"/>
              <a:ext cx="6410325" cy="683260"/>
            </a:xfrm>
            <a:custGeom>
              <a:avLst/>
              <a:gdLst/>
              <a:ahLst/>
              <a:cxnLst/>
              <a:rect l="l" t="t" r="r" b="b"/>
              <a:pathLst>
                <a:path w="6410325" h="683260">
                  <a:moveTo>
                    <a:pt x="6409944" y="371856"/>
                  </a:moveTo>
                  <a:lnTo>
                    <a:pt x="6405143" y="348145"/>
                  </a:lnTo>
                  <a:lnTo>
                    <a:pt x="6392075" y="328764"/>
                  </a:lnTo>
                  <a:lnTo>
                    <a:pt x="6372695" y="315696"/>
                  </a:lnTo>
                  <a:lnTo>
                    <a:pt x="6348984" y="310896"/>
                  </a:lnTo>
                  <a:lnTo>
                    <a:pt x="3542868" y="310896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158845" y="3111"/>
                  </a:lnTo>
                  <a:lnTo>
                    <a:pt x="3114611" y="12141"/>
                  </a:lnTo>
                  <a:lnTo>
                    <a:pt x="3072676" y="26708"/>
                  </a:lnTo>
                  <a:lnTo>
                    <a:pt x="3033433" y="46405"/>
                  </a:lnTo>
                  <a:lnTo>
                    <a:pt x="2997289" y="70815"/>
                  </a:lnTo>
                  <a:lnTo>
                    <a:pt x="2964650" y="99542"/>
                  </a:lnTo>
                  <a:lnTo>
                    <a:pt x="2935922" y="132181"/>
                  </a:lnTo>
                  <a:lnTo>
                    <a:pt x="2911513" y="168325"/>
                  </a:lnTo>
                  <a:lnTo>
                    <a:pt x="2891815" y="207568"/>
                  </a:lnTo>
                  <a:lnTo>
                    <a:pt x="2877248" y="249504"/>
                  </a:lnTo>
                  <a:lnTo>
                    <a:pt x="2868218" y="293738"/>
                  </a:lnTo>
                  <a:lnTo>
                    <a:pt x="2867063" y="310896"/>
                  </a:lnTo>
                  <a:lnTo>
                    <a:pt x="60960" y="310896"/>
                  </a:lnTo>
                  <a:lnTo>
                    <a:pt x="37223" y="315696"/>
                  </a:lnTo>
                  <a:lnTo>
                    <a:pt x="17843" y="328764"/>
                  </a:lnTo>
                  <a:lnTo>
                    <a:pt x="4787" y="348145"/>
                  </a:lnTo>
                  <a:lnTo>
                    <a:pt x="0" y="371856"/>
                  </a:lnTo>
                  <a:lnTo>
                    <a:pt x="4787" y="395579"/>
                  </a:lnTo>
                  <a:lnTo>
                    <a:pt x="17843" y="414959"/>
                  </a:lnTo>
                  <a:lnTo>
                    <a:pt x="37223" y="428028"/>
                  </a:lnTo>
                  <a:lnTo>
                    <a:pt x="60960" y="432816"/>
                  </a:lnTo>
                  <a:lnTo>
                    <a:pt x="2877147" y="432816"/>
                  </a:lnTo>
                  <a:lnTo>
                    <a:pt x="2877248" y="433260"/>
                  </a:lnTo>
                  <a:lnTo>
                    <a:pt x="2891815" y="475195"/>
                  </a:lnTo>
                  <a:lnTo>
                    <a:pt x="2911513" y="514438"/>
                  </a:lnTo>
                  <a:lnTo>
                    <a:pt x="2935922" y="550583"/>
                  </a:lnTo>
                  <a:lnTo>
                    <a:pt x="2964650" y="583222"/>
                  </a:lnTo>
                  <a:lnTo>
                    <a:pt x="2997289" y="611949"/>
                  </a:lnTo>
                  <a:lnTo>
                    <a:pt x="3033433" y="636358"/>
                  </a:lnTo>
                  <a:lnTo>
                    <a:pt x="3072676" y="656056"/>
                  </a:lnTo>
                  <a:lnTo>
                    <a:pt x="3114611" y="670623"/>
                  </a:lnTo>
                  <a:lnTo>
                    <a:pt x="3158845" y="679653"/>
                  </a:lnTo>
                  <a:lnTo>
                    <a:pt x="3204972" y="682752"/>
                  </a:lnTo>
                  <a:lnTo>
                    <a:pt x="3251085" y="679653"/>
                  </a:lnTo>
                  <a:lnTo>
                    <a:pt x="3295319" y="670623"/>
                  </a:lnTo>
                  <a:lnTo>
                    <a:pt x="3337255" y="656056"/>
                  </a:lnTo>
                  <a:lnTo>
                    <a:pt x="3376498" y="636358"/>
                  </a:lnTo>
                  <a:lnTo>
                    <a:pt x="3412642" y="611949"/>
                  </a:lnTo>
                  <a:lnTo>
                    <a:pt x="3445281" y="583222"/>
                  </a:lnTo>
                  <a:lnTo>
                    <a:pt x="3474008" y="550583"/>
                  </a:lnTo>
                  <a:lnTo>
                    <a:pt x="3498418" y="514438"/>
                  </a:lnTo>
                  <a:lnTo>
                    <a:pt x="3518116" y="475195"/>
                  </a:lnTo>
                  <a:lnTo>
                    <a:pt x="3532682" y="433260"/>
                  </a:lnTo>
                  <a:lnTo>
                    <a:pt x="3532771" y="432816"/>
                  </a:lnTo>
                  <a:lnTo>
                    <a:pt x="6348984" y="432816"/>
                  </a:lnTo>
                  <a:lnTo>
                    <a:pt x="6372695" y="428028"/>
                  </a:lnTo>
                  <a:lnTo>
                    <a:pt x="6392075" y="414959"/>
                  </a:lnTo>
                  <a:lnTo>
                    <a:pt x="6405143" y="395579"/>
                  </a:lnTo>
                  <a:lnTo>
                    <a:pt x="6409944" y="371856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1815" y="2767583"/>
              <a:ext cx="271272" cy="27432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038555" y="3448304"/>
            <a:ext cx="5518150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Indus</a:t>
            </a:r>
            <a:r>
              <a:rPr dirty="0" sz="2200" spc="-27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60">
                <a:solidFill>
                  <a:srgbClr val="3A4E4E"/>
                </a:solidFill>
                <a:latin typeface="Malgun Gothic Semilight"/>
                <a:cs typeface="Malgun Gothic Semilight"/>
              </a:rPr>
              <a:t>trial</a:t>
            </a:r>
            <a:r>
              <a:rPr dirty="0" sz="2200" spc="34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80">
                <a:solidFill>
                  <a:srgbClr val="3A4E4E"/>
                </a:solidFill>
                <a:latin typeface="Malgun Gothic Semilight"/>
                <a:cs typeface="Malgun Gothic Semilight"/>
              </a:rPr>
              <a:t>Emis</a:t>
            </a:r>
            <a:r>
              <a:rPr dirty="0" sz="2200" spc="-27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s</a:t>
            </a:r>
            <a:r>
              <a:rPr dirty="0" sz="2200" spc="-24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35">
                <a:solidFill>
                  <a:srgbClr val="3A4E4E"/>
                </a:solidFill>
                <a:latin typeface="Malgun Gothic Semilight"/>
                <a:cs typeface="Malgun Gothic Semilight"/>
              </a:rPr>
              <a:t>ions</a:t>
            </a:r>
            <a:endParaRPr sz="22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40600"/>
              </a:lnSpc>
              <a:spcBef>
                <a:spcPts val="77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Factories,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especially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those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near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urban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centers,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release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a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variety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pollutants.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427976" y="2563367"/>
            <a:ext cx="6410325" cy="2383790"/>
            <a:chOff x="7427976" y="2563367"/>
            <a:chExt cx="6410325" cy="2383790"/>
          </a:xfrm>
        </p:grpSpPr>
        <p:sp>
          <p:nvSpPr>
            <p:cNvPr id="10" name="object 10" descr=""/>
            <p:cNvSpPr/>
            <p:nvPr/>
          </p:nvSpPr>
          <p:spPr>
            <a:xfrm>
              <a:off x="7427976" y="2904743"/>
              <a:ext cx="6410325" cy="2042160"/>
            </a:xfrm>
            <a:custGeom>
              <a:avLst/>
              <a:gdLst/>
              <a:ahLst/>
              <a:cxnLst/>
              <a:rect l="l" t="t" r="r" b="b"/>
              <a:pathLst>
                <a:path w="6410325" h="2042160">
                  <a:moveTo>
                    <a:pt x="6263512" y="0"/>
                  </a:moveTo>
                  <a:lnTo>
                    <a:pt x="146430" y="0"/>
                  </a:lnTo>
                  <a:lnTo>
                    <a:pt x="100136" y="7462"/>
                  </a:lnTo>
                  <a:lnTo>
                    <a:pt x="59938" y="28244"/>
                  </a:lnTo>
                  <a:lnTo>
                    <a:pt x="28244" y="59938"/>
                  </a:lnTo>
                  <a:lnTo>
                    <a:pt x="7462" y="100136"/>
                  </a:lnTo>
                  <a:lnTo>
                    <a:pt x="0" y="146430"/>
                  </a:lnTo>
                  <a:lnTo>
                    <a:pt x="0" y="1895728"/>
                  </a:lnTo>
                  <a:lnTo>
                    <a:pt x="7462" y="1942023"/>
                  </a:lnTo>
                  <a:lnTo>
                    <a:pt x="28244" y="1982221"/>
                  </a:lnTo>
                  <a:lnTo>
                    <a:pt x="59938" y="2013915"/>
                  </a:lnTo>
                  <a:lnTo>
                    <a:pt x="100136" y="2034697"/>
                  </a:lnTo>
                  <a:lnTo>
                    <a:pt x="146430" y="2042159"/>
                  </a:lnTo>
                  <a:lnTo>
                    <a:pt x="6263512" y="2042159"/>
                  </a:lnTo>
                  <a:lnTo>
                    <a:pt x="6309807" y="2034697"/>
                  </a:lnTo>
                  <a:lnTo>
                    <a:pt x="6350005" y="2013915"/>
                  </a:lnTo>
                  <a:lnTo>
                    <a:pt x="6381699" y="1982221"/>
                  </a:lnTo>
                  <a:lnTo>
                    <a:pt x="6402481" y="1942023"/>
                  </a:lnTo>
                  <a:lnTo>
                    <a:pt x="6409943" y="1895728"/>
                  </a:lnTo>
                  <a:lnTo>
                    <a:pt x="6409943" y="146430"/>
                  </a:lnTo>
                  <a:lnTo>
                    <a:pt x="6402481" y="100136"/>
                  </a:lnTo>
                  <a:lnTo>
                    <a:pt x="6381699" y="59938"/>
                  </a:lnTo>
                  <a:lnTo>
                    <a:pt x="6350005" y="28244"/>
                  </a:lnTo>
                  <a:lnTo>
                    <a:pt x="6309807" y="7462"/>
                  </a:lnTo>
                  <a:lnTo>
                    <a:pt x="6263512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427976" y="2563367"/>
              <a:ext cx="6410325" cy="683260"/>
            </a:xfrm>
            <a:custGeom>
              <a:avLst/>
              <a:gdLst/>
              <a:ahLst/>
              <a:cxnLst/>
              <a:rect l="l" t="t" r="r" b="b"/>
              <a:pathLst>
                <a:path w="6410325" h="683260">
                  <a:moveTo>
                    <a:pt x="6409944" y="371856"/>
                  </a:moveTo>
                  <a:lnTo>
                    <a:pt x="6405143" y="348145"/>
                  </a:lnTo>
                  <a:lnTo>
                    <a:pt x="6392075" y="328764"/>
                  </a:lnTo>
                  <a:lnTo>
                    <a:pt x="6372695" y="315696"/>
                  </a:lnTo>
                  <a:lnTo>
                    <a:pt x="6348984" y="310896"/>
                  </a:lnTo>
                  <a:lnTo>
                    <a:pt x="3542868" y="310896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158845" y="3111"/>
                  </a:lnTo>
                  <a:lnTo>
                    <a:pt x="3114611" y="12141"/>
                  </a:lnTo>
                  <a:lnTo>
                    <a:pt x="3072676" y="26708"/>
                  </a:lnTo>
                  <a:lnTo>
                    <a:pt x="3033433" y="46405"/>
                  </a:lnTo>
                  <a:lnTo>
                    <a:pt x="2997289" y="70815"/>
                  </a:lnTo>
                  <a:lnTo>
                    <a:pt x="2964650" y="99542"/>
                  </a:lnTo>
                  <a:lnTo>
                    <a:pt x="2935922" y="132181"/>
                  </a:lnTo>
                  <a:lnTo>
                    <a:pt x="2911513" y="168325"/>
                  </a:lnTo>
                  <a:lnTo>
                    <a:pt x="2891815" y="207568"/>
                  </a:lnTo>
                  <a:lnTo>
                    <a:pt x="2877248" y="249504"/>
                  </a:lnTo>
                  <a:lnTo>
                    <a:pt x="2868218" y="293738"/>
                  </a:lnTo>
                  <a:lnTo>
                    <a:pt x="2867063" y="310896"/>
                  </a:lnTo>
                  <a:lnTo>
                    <a:pt x="60960" y="310896"/>
                  </a:lnTo>
                  <a:lnTo>
                    <a:pt x="37236" y="315696"/>
                  </a:lnTo>
                  <a:lnTo>
                    <a:pt x="17856" y="328764"/>
                  </a:lnTo>
                  <a:lnTo>
                    <a:pt x="4787" y="348145"/>
                  </a:lnTo>
                  <a:lnTo>
                    <a:pt x="0" y="371856"/>
                  </a:lnTo>
                  <a:lnTo>
                    <a:pt x="4787" y="395579"/>
                  </a:lnTo>
                  <a:lnTo>
                    <a:pt x="17856" y="414959"/>
                  </a:lnTo>
                  <a:lnTo>
                    <a:pt x="37236" y="428028"/>
                  </a:lnTo>
                  <a:lnTo>
                    <a:pt x="60960" y="432816"/>
                  </a:lnTo>
                  <a:lnTo>
                    <a:pt x="2877147" y="432816"/>
                  </a:lnTo>
                  <a:lnTo>
                    <a:pt x="2877248" y="433260"/>
                  </a:lnTo>
                  <a:lnTo>
                    <a:pt x="2891815" y="475195"/>
                  </a:lnTo>
                  <a:lnTo>
                    <a:pt x="2911513" y="514438"/>
                  </a:lnTo>
                  <a:lnTo>
                    <a:pt x="2935922" y="550583"/>
                  </a:lnTo>
                  <a:lnTo>
                    <a:pt x="2964650" y="583222"/>
                  </a:lnTo>
                  <a:lnTo>
                    <a:pt x="2997289" y="611949"/>
                  </a:lnTo>
                  <a:lnTo>
                    <a:pt x="3033433" y="636358"/>
                  </a:lnTo>
                  <a:lnTo>
                    <a:pt x="3072676" y="656056"/>
                  </a:lnTo>
                  <a:lnTo>
                    <a:pt x="3114611" y="670623"/>
                  </a:lnTo>
                  <a:lnTo>
                    <a:pt x="3158845" y="679653"/>
                  </a:lnTo>
                  <a:lnTo>
                    <a:pt x="3204972" y="682752"/>
                  </a:lnTo>
                  <a:lnTo>
                    <a:pt x="3251085" y="679653"/>
                  </a:lnTo>
                  <a:lnTo>
                    <a:pt x="3295319" y="670623"/>
                  </a:lnTo>
                  <a:lnTo>
                    <a:pt x="3337255" y="656056"/>
                  </a:lnTo>
                  <a:lnTo>
                    <a:pt x="3376498" y="636358"/>
                  </a:lnTo>
                  <a:lnTo>
                    <a:pt x="3412642" y="611949"/>
                  </a:lnTo>
                  <a:lnTo>
                    <a:pt x="3445281" y="583222"/>
                  </a:lnTo>
                  <a:lnTo>
                    <a:pt x="3474008" y="550583"/>
                  </a:lnTo>
                  <a:lnTo>
                    <a:pt x="3498418" y="514438"/>
                  </a:lnTo>
                  <a:lnTo>
                    <a:pt x="3518116" y="475195"/>
                  </a:lnTo>
                  <a:lnTo>
                    <a:pt x="3532682" y="433260"/>
                  </a:lnTo>
                  <a:lnTo>
                    <a:pt x="3532771" y="432816"/>
                  </a:lnTo>
                  <a:lnTo>
                    <a:pt x="6348984" y="432816"/>
                  </a:lnTo>
                  <a:lnTo>
                    <a:pt x="6372695" y="428028"/>
                  </a:lnTo>
                  <a:lnTo>
                    <a:pt x="6392075" y="414959"/>
                  </a:lnTo>
                  <a:lnTo>
                    <a:pt x="6405143" y="395579"/>
                  </a:lnTo>
                  <a:lnTo>
                    <a:pt x="6409944" y="371856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7311" y="2767583"/>
              <a:ext cx="271272" cy="27432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674991" y="3448304"/>
            <a:ext cx="5733415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80">
                <a:solidFill>
                  <a:srgbClr val="3A4E4E"/>
                </a:solidFill>
                <a:latin typeface="Malgun Gothic Semilight"/>
                <a:cs typeface="Malgun Gothic Semilight"/>
              </a:rPr>
              <a:t>Agricultural</a:t>
            </a:r>
            <a:r>
              <a:rPr dirty="0" sz="2200" spc="23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55">
                <a:solidFill>
                  <a:srgbClr val="3A4E4E"/>
                </a:solidFill>
                <a:latin typeface="Malgun Gothic Semilight"/>
                <a:cs typeface="Malgun Gothic Semilight"/>
              </a:rPr>
              <a:t>Practices</a:t>
            </a:r>
            <a:endParaRPr sz="22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40600"/>
              </a:lnSpc>
              <a:spcBef>
                <a:spcPts val="77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Stubble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burning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agricultural</a:t>
            </a:r>
            <a:r>
              <a:rPr dirty="0" sz="175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regions</a:t>
            </a:r>
            <a:r>
              <a:rPr dirty="0" sz="175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contributes</a:t>
            </a:r>
            <a:r>
              <a:rPr dirty="0" sz="175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heavily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regional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haze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particulate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matter.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92480" y="5172455"/>
            <a:ext cx="6410325" cy="2380615"/>
            <a:chOff x="792480" y="5172455"/>
            <a:chExt cx="6410325" cy="2380615"/>
          </a:xfrm>
        </p:grpSpPr>
        <p:sp>
          <p:nvSpPr>
            <p:cNvPr id="15" name="object 15" descr=""/>
            <p:cNvSpPr/>
            <p:nvPr/>
          </p:nvSpPr>
          <p:spPr>
            <a:xfrm>
              <a:off x="792480" y="5513831"/>
              <a:ext cx="6410325" cy="2039620"/>
            </a:xfrm>
            <a:custGeom>
              <a:avLst/>
              <a:gdLst/>
              <a:ahLst/>
              <a:cxnLst/>
              <a:rect l="l" t="t" r="r" b="b"/>
              <a:pathLst>
                <a:path w="6410325" h="2039620">
                  <a:moveTo>
                    <a:pt x="6263767" y="0"/>
                  </a:moveTo>
                  <a:lnTo>
                    <a:pt x="146202" y="0"/>
                  </a:lnTo>
                  <a:lnTo>
                    <a:pt x="99990" y="7448"/>
                  </a:lnTo>
                  <a:lnTo>
                    <a:pt x="59856" y="28191"/>
                  </a:lnTo>
                  <a:lnTo>
                    <a:pt x="28208" y="59829"/>
                  </a:lnTo>
                  <a:lnTo>
                    <a:pt x="7453" y="99958"/>
                  </a:lnTo>
                  <a:lnTo>
                    <a:pt x="0" y="146177"/>
                  </a:lnTo>
                  <a:lnTo>
                    <a:pt x="0" y="1892909"/>
                  </a:lnTo>
                  <a:lnTo>
                    <a:pt x="7453" y="1939121"/>
                  </a:lnTo>
                  <a:lnTo>
                    <a:pt x="28208" y="1979255"/>
                  </a:lnTo>
                  <a:lnTo>
                    <a:pt x="59856" y="2010903"/>
                  </a:lnTo>
                  <a:lnTo>
                    <a:pt x="99990" y="2031658"/>
                  </a:lnTo>
                  <a:lnTo>
                    <a:pt x="146202" y="2039112"/>
                  </a:lnTo>
                  <a:lnTo>
                    <a:pt x="6263767" y="2039112"/>
                  </a:lnTo>
                  <a:lnTo>
                    <a:pt x="6309985" y="2031658"/>
                  </a:lnTo>
                  <a:lnTo>
                    <a:pt x="6350114" y="2010903"/>
                  </a:lnTo>
                  <a:lnTo>
                    <a:pt x="6381752" y="1979255"/>
                  </a:lnTo>
                  <a:lnTo>
                    <a:pt x="6402495" y="1939121"/>
                  </a:lnTo>
                  <a:lnTo>
                    <a:pt x="6409944" y="1892909"/>
                  </a:lnTo>
                  <a:lnTo>
                    <a:pt x="6409944" y="146177"/>
                  </a:lnTo>
                  <a:lnTo>
                    <a:pt x="6402495" y="99958"/>
                  </a:lnTo>
                  <a:lnTo>
                    <a:pt x="6381752" y="59829"/>
                  </a:lnTo>
                  <a:lnTo>
                    <a:pt x="6350114" y="28191"/>
                  </a:lnTo>
                  <a:lnTo>
                    <a:pt x="6309985" y="7448"/>
                  </a:lnTo>
                  <a:lnTo>
                    <a:pt x="6263767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2480" y="5172455"/>
              <a:ext cx="6410325" cy="680085"/>
            </a:xfrm>
            <a:custGeom>
              <a:avLst/>
              <a:gdLst/>
              <a:ahLst/>
              <a:cxnLst/>
              <a:rect l="l" t="t" r="r" b="b"/>
              <a:pathLst>
                <a:path w="6410325" h="680085">
                  <a:moveTo>
                    <a:pt x="6409944" y="371856"/>
                  </a:moveTo>
                  <a:lnTo>
                    <a:pt x="6405143" y="348145"/>
                  </a:lnTo>
                  <a:lnTo>
                    <a:pt x="6392075" y="328764"/>
                  </a:lnTo>
                  <a:lnTo>
                    <a:pt x="6372695" y="315696"/>
                  </a:lnTo>
                  <a:lnTo>
                    <a:pt x="6348984" y="310896"/>
                  </a:lnTo>
                  <a:lnTo>
                    <a:pt x="3542868" y="310896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158845" y="3111"/>
                  </a:lnTo>
                  <a:lnTo>
                    <a:pt x="3114611" y="12141"/>
                  </a:lnTo>
                  <a:lnTo>
                    <a:pt x="3072676" y="26708"/>
                  </a:lnTo>
                  <a:lnTo>
                    <a:pt x="3033433" y="46405"/>
                  </a:lnTo>
                  <a:lnTo>
                    <a:pt x="2997289" y="70815"/>
                  </a:lnTo>
                  <a:lnTo>
                    <a:pt x="2964650" y="99542"/>
                  </a:lnTo>
                  <a:lnTo>
                    <a:pt x="2935922" y="132181"/>
                  </a:lnTo>
                  <a:lnTo>
                    <a:pt x="2911513" y="168325"/>
                  </a:lnTo>
                  <a:lnTo>
                    <a:pt x="2891815" y="207568"/>
                  </a:lnTo>
                  <a:lnTo>
                    <a:pt x="2877248" y="249504"/>
                  </a:lnTo>
                  <a:lnTo>
                    <a:pt x="2868218" y="293738"/>
                  </a:lnTo>
                  <a:lnTo>
                    <a:pt x="2867063" y="310896"/>
                  </a:lnTo>
                  <a:lnTo>
                    <a:pt x="60960" y="310896"/>
                  </a:lnTo>
                  <a:lnTo>
                    <a:pt x="37223" y="315696"/>
                  </a:lnTo>
                  <a:lnTo>
                    <a:pt x="17843" y="328764"/>
                  </a:lnTo>
                  <a:lnTo>
                    <a:pt x="4787" y="348145"/>
                  </a:lnTo>
                  <a:lnTo>
                    <a:pt x="0" y="371856"/>
                  </a:lnTo>
                  <a:lnTo>
                    <a:pt x="4787" y="395579"/>
                  </a:lnTo>
                  <a:lnTo>
                    <a:pt x="17843" y="414959"/>
                  </a:lnTo>
                  <a:lnTo>
                    <a:pt x="37223" y="428028"/>
                  </a:lnTo>
                  <a:lnTo>
                    <a:pt x="60960" y="432816"/>
                  </a:lnTo>
                  <a:lnTo>
                    <a:pt x="2878150" y="432816"/>
                  </a:lnTo>
                  <a:lnTo>
                    <a:pt x="2891815" y="472147"/>
                  </a:lnTo>
                  <a:lnTo>
                    <a:pt x="2911513" y="511390"/>
                  </a:lnTo>
                  <a:lnTo>
                    <a:pt x="2935922" y="547535"/>
                  </a:lnTo>
                  <a:lnTo>
                    <a:pt x="2964650" y="580174"/>
                  </a:lnTo>
                  <a:lnTo>
                    <a:pt x="2997289" y="608901"/>
                  </a:lnTo>
                  <a:lnTo>
                    <a:pt x="3033433" y="633310"/>
                  </a:lnTo>
                  <a:lnTo>
                    <a:pt x="3072676" y="653008"/>
                  </a:lnTo>
                  <a:lnTo>
                    <a:pt x="3114611" y="667575"/>
                  </a:lnTo>
                  <a:lnTo>
                    <a:pt x="3158845" y="676605"/>
                  </a:lnTo>
                  <a:lnTo>
                    <a:pt x="3204972" y="679704"/>
                  </a:lnTo>
                  <a:lnTo>
                    <a:pt x="3251085" y="676605"/>
                  </a:lnTo>
                  <a:lnTo>
                    <a:pt x="3295319" y="667575"/>
                  </a:lnTo>
                  <a:lnTo>
                    <a:pt x="3337255" y="653008"/>
                  </a:lnTo>
                  <a:lnTo>
                    <a:pt x="3376498" y="633310"/>
                  </a:lnTo>
                  <a:lnTo>
                    <a:pt x="3412642" y="608901"/>
                  </a:lnTo>
                  <a:lnTo>
                    <a:pt x="3445281" y="580174"/>
                  </a:lnTo>
                  <a:lnTo>
                    <a:pt x="3474008" y="547535"/>
                  </a:lnTo>
                  <a:lnTo>
                    <a:pt x="3498418" y="511390"/>
                  </a:lnTo>
                  <a:lnTo>
                    <a:pt x="3518116" y="472147"/>
                  </a:lnTo>
                  <a:lnTo>
                    <a:pt x="3531768" y="432816"/>
                  </a:lnTo>
                  <a:lnTo>
                    <a:pt x="6348984" y="432816"/>
                  </a:lnTo>
                  <a:lnTo>
                    <a:pt x="6372695" y="428028"/>
                  </a:lnTo>
                  <a:lnTo>
                    <a:pt x="6392075" y="414959"/>
                  </a:lnTo>
                  <a:lnTo>
                    <a:pt x="6405143" y="395579"/>
                  </a:lnTo>
                  <a:lnTo>
                    <a:pt x="6409944" y="371856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1815" y="5376671"/>
              <a:ext cx="271272" cy="271271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038555" y="6056757"/>
            <a:ext cx="5148580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60">
                <a:solidFill>
                  <a:srgbClr val="3A4E4E"/>
                </a:solidFill>
                <a:latin typeface="Malgun Gothic Semilight"/>
                <a:cs typeface="Malgun Gothic Semilight"/>
              </a:rPr>
              <a:t>Vehicle</a:t>
            </a:r>
            <a:r>
              <a:rPr dirty="0" sz="2200" spc="21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110">
                <a:solidFill>
                  <a:srgbClr val="3A4E4E"/>
                </a:solidFill>
                <a:latin typeface="Malgun Gothic Semilight"/>
                <a:cs typeface="Malgun Gothic Semilight"/>
              </a:rPr>
              <a:t>Exhaus</a:t>
            </a:r>
            <a:r>
              <a:rPr dirty="0" sz="2200" spc="-30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t</a:t>
            </a:r>
            <a:endParaRPr sz="22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Emissions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from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cars,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trucks,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other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vehicles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are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a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primary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source</a:t>
            </a:r>
            <a:r>
              <a:rPr dirty="0" sz="175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CO,</a:t>
            </a:r>
            <a:r>
              <a:rPr dirty="0" sz="17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NO2,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1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PM.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427976" y="5172455"/>
            <a:ext cx="6410325" cy="2380615"/>
            <a:chOff x="7427976" y="5172455"/>
            <a:chExt cx="6410325" cy="2380615"/>
          </a:xfrm>
        </p:grpSpPr>
        <p:sp>
          <p:nvSpPr>
            <p:cNvPr id="20" name="object 20" descr=""/>
            <p:cNvSpPr/>
            <p:nvPr/>
          </p:nvSpPr>
          <p:spPr>
            <a:xfrm>
              <a:off x="7427976" y="5513831"/>
              <a:ext cx="6410325" cy="2039620"/>
            </a:xfrm>
            <a:custGeom>
              <a:avLst/>
              <a:gdLst/>
              <a:ahLst/>
              <a:cxnLst/>
              <a:rect l="l" t="t" r="r" b="b"/>
              <a:pathLst>
                <a:path w="6410325" h="2039620">
                  <a:moveTo>
                    <a:pt x="6263766" y="0"/>
                  </a:moveTo>
                  <a:lnTo>
                    <a:pt x="146176" y="0"/>
                  </a:lnTo>
                  <a:lnTo>
                    <a:pt x="99958" y="7448"/>
                  </a:lnTo>
                  <a:lnTo>
                    <a:pt x="59829" y="28191"/>
                  </a:lnTo>
                  <a:lnTo>
                    <a:pt x="28191" y="59829"/>
                  </a:lnTo>
                  <a:lnTo>
                    <a:pt x="7448" y="99958"/>
                  </a:lnTo>
                  <a:lnTo>
                    <a:pt x="0" y="146177"/>
                  </a:lnTo>
                  <a:lnTo>
                    <a:pt x="0" y="1892909"/>
                  </a:lnTo>
                  <a:lnTo>
                    <a:pt x="7448" y="1939121"/>
                  </a:lnTo>
                  <a:lnTo>
                    <a:pt x="28191" y="1979255"/>
                  </a:lnTo>
                  <a:lnTo>
                    <a:pt x="59829" y="2010903"/>
                  </a:lnTo>
                  <a:lnTo>
                    <a:pt x="99958" y="2031658"/>
                  </a:lnTo>
                  <a:lnTo>
                    <a:pt x="146176" y="2039112"/>
                  </a:lnTo>
                  <a:lnTo>
                    <a:pt x="6263766" y="2039112"/>
                  </a:lnTo>
                  <a:lnTo>
                    <a:pt x="6309985" y="2031658"/>
                  </a:lnTo>
                  <a:lnTo>
                    <a:pt x="6350114" y="2010903"/>
                  </a:lnTo>
                  <a:lnTo>
                    <a:pt x="6381752" y="1979255"/>
                  </a:lnTo>
                  <a:lnTo>
                    <a:pt x="6402495" y="1939121"/>
                  </a:lnTo>
                  <a:lnTo>
                    <a:pt x="6409943" y="1892909"/>
                  </a:lnTo>
                  <a:lnTo>
                    <a:pt x="6409943" y="146177"/>
                  </a:lnTo>
                  <a:lnTo>
                    <a:pt x="6402495" y="99958"/>
                  </a:lnTo>
                  <a:lnTo>
                    <a:pt x="6381752" y="59829"/>
                  </a:lnTo>
                  <a:lnTo>
                    <a:pt x="6350114" y="28191"/>
                  </a:lnTo>
                  <a:lnTo>
                    <a:pt x="6309985" y="7448"/>
                  </a:lnTo>
                  <a:lnTo>
                    <a:pt x="6263766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27976" y="5172455"/>
              <a:ext cx="6410325" cy="680085"/>
            </a:xfrm>
            <a:custGeom>
              <a:avLst/>
              <a:gdLst/>
              <a:ahLst/>
              <a:cxnLst/>
              <a:rect l="l" t="t" r="r" b="b"/>
              <a:pathLst>
                <a:path w="6410325" h="680085">
                  <a:moveTo>
                    <a:pt x="6409944" y="371856"/>
                  </a:moveTo>
                  <a:lnTo>
                    <a:pt x="6405143" y="348145"/>
                  </a:lnTo>
                  <a:lnTo>
                    <a:pt x="6392075" y="328764"/>
                  </a:lnTo>
                  <a:lnTo>
                    <a:pt x="6372695" y="315696"/>
                  </a:lnTo>
                  <a:lnTo>
                    <a:pt x="6348984" y="310896"/>
                  </a:lnTo>
                  <a:lnTo>
                    <a:pt x="3542868" y="310896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158845" y="3111"/>
                  </a:lnTo>
                  <a:lnTo>
                    <a:pt x="3114611" y="12141"/>
                  </a:lnTo>
                  <a:lnTo>
                    <a:pt x="3072676" y="26708"/>
                  </a:lnTo>
                  <a:lnTo>
                    <a:pt x="3033433" y="46405"/>
                  </a:lnTo>
                  <a:lnTo>
                    <a:pt x="2997289" y="70815"/>
                  </a:lnTo>
                  <a:lnTo>
                    <a:pt x="2964650" y="99542"/>
                  </a:lnTo>
                  <a:lnTo>
                    <a:pt x="2935922" y="132181"/>
                  </a:lnTo>
                  <a:lnTo>
                    <a:pt x="2911513" y="168325"/>
                  </a:lnTo>
                  <a:lnTo>
                    <a:pt x="2891815" y="207568"/>
                  </a:lnTo>
                  <a:lnTo>
                    <a:pt x="2877248" y="249504"/>
                  </a:lnTo>
                  <a:lnTo>
                    <a:pt x="2868218" y="293738"/>
                  </a:lnTo>
                  <a:lnTo>
                    <a:pt x="2867063" y="310896"/>
                  </a:lnTo>
                  <a:lnTo>
                    <a:pt x="60960" y="310896"/>
                  </a:lnTo>
                  <a:lnTo>
                    <a:pt x="37236" y="315696"/>
                  </a:lnTo>
                  <a:lnTo>
                    <a:pt x="17856" y="328764"/>
                  </a:lnTo>
                  <a:lnTo>
                    <a:pt x="4787" y="348145"/>
                  </a:lnTo>
                  <a:lnTo>
                    <a:pt x="0" y="371856"/>
                  </a:lnTo>
                  <a:lnTo>
                    <a:pt x="4787" y="395579"/>
                  </a:lnTo>
                  <a:lnTo>
                    <a:pt x="17856" y="414959"/>
                  </a:lnTo>
                  <a:lnTo>
                    <a:pt x="37236" y="428028"/>
                  </a:lnTo>
                  <a:lnTo>
                    <a:pt x="60960" y="432816"/>
                  </a:lnTo>
                  <a:lnTo>
                    <a:pt x="2878150" y="432816"/>
                  </a:lnTo>
                  <a:lnTo>
                    <a:pt x="2891815" y="472147"/>
                  </a:lnTo>
                  <a:lnTo>
                    <a:pt x="2911513" y="511390"/>
                  </a:lnTo>
                  <a:lnTo>
                    <a:pt x="2935922" y="547535"/>
                  </a:lnTo>
                  <a:lnTo>
                    <a:pt x="2964650" y="580174"/>
                  </a:lnTo>
                  <a:lnTo>
                    <a:pt x="2997289" y="608901"/>
                  </a:lnTo>
                  <a:lnTo>
                    <a:pt x="3033433" y="633310"/>
                  </a:lnTo>
                  <a:lnTo>
                    <a:pt x="3072676" y="653008"/>
                  </a:lnTo>
                  <a:lnTo>
                    <a:pt x="3114611" y="667575"/>
                  </a:lnTo>
                  <a:lnTo>
                    <a:pt x="3158845" y="676605"/>
                  </a:lnTo>
                  <a:lnTo>
                    <a:pt x="3204972" y="679704"/>
                  </a:lnTo>
                  <a:lnTo>
                    <a:pt x="3251085" y="676605"/>
                  </a:lnTo>
                  <a:lnTo>
                    <a:pt x="3295319" y="667575"/>
                  </a:lnTo>
                  <a:lnTo>
                    <a:pt x="3337255" y="653008"/>
                  </a:lnTo>
                  <a:lnTo>
                    <a:pt x="3376498" y="633310"/>
                  </a:lnTo>
                  <a:lnTo>
                    <a:pt x="3412642" y="608901"/>
                  </a:lnTo>
                  <a:lnTo>
                    <a:pt x="3445281" y="580174"/>
                  </a:lnTo>
                  <a:lnTo>
                    <a:pt x="3474008" y="547535"/>
                  </a:lnTo>
                  <a:lnTo>
                    <a:pt x="3498418" y="511390"/>
                  </a:lnTo>
                  <a:lnTo>
                    <a:pt x="3518116" y="472147"/>
                  </a:lnTo>
                  <a:lnTo>
                    <a:pt x="3531768" y="432816"/>
                  </a:lnTo>
                  <a:lnTo>
                    <a:pt x="6348984" y="432816"/>
                  </a:lnTo>
                  <a:lnTo>
                    <a:pt x="6372695" y="428028"/>
                  </a:lnTo>
                  <a:lnTo>
                    <a:pt x="6392075" y="414959"/>
                  </a:lnTo>
                  <a:lnTo>
                    <a:pt x="6405143" y="395579"/>
                  </a:lnTo>
                  <a:lnTo>
                    <a:pt x="6409944" y="371856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7311" y="5376671"/>
              <a:ext cx="271272" cy="271271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7674991" y="6056757"/>
            <a:ext cx="5411470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Cons</a:t>
            </a:r>
            <a:r>
              <a:rPr dirty="0" sz="2200" spc="-2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60">
                <a:solidFill>
                  <a:srgbClr val="3A4E4E"/>
                </a:solidFill>
                <a:latin typeface="Malgun Gothic Semilight"/>
                <a:cs typeface="Malgun Gothic Semilight"/>
              </a:rPr>
              <a:t>truction</a:t>
            </a:r>
            <a:r>
              <a:rPr dirty="0" sz="2200" spc="31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&amp;</a:t>
            </a:r>
            <a:r>
              <a:rPr dirty="0" sz="2200" spc="3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Dus</a:t>
            </a:r>
            <a:r>
              <a:rPr dirty="0" sz="2200" spc="-2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t</a:t>
            </a:r>
            <a:endParaRPr sz="22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Construction</a:t>
            </a:r>
            <a:r>
              <a:rPr dirty="0" sz="1750" spc="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activities</a:t>
            </a:r>
            <a:r>
              <a:rPr dirty="0" sz="1750" spc="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generate</a:t>
            </a:r>
            <a:r>
              <a:rPr dirty="0" sz="1750" spc="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significant</a:t>
            </a:r>
            <a:r>
              <a:rPr dirty="0" sz="1750" spc="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amounts</a:t>
            </a:r>
            <a:r>
              <a:rPr dirty="0" sz="175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particulate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matter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that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lingers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air.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84" rIns="0" bIns="0" rtlCol="0" vert="horz">
            <a:spAutoFit/>
          </a:bodyPr>
          <a:lstStyle/>
          <a:p>
            <a:pPr marL="162560">
              <a:lnSpc>
                <a:spcPct val="100000"/>
              </a:lnSpc>
              <a:spcBef>
                <a:spcPts val="105"/>
              </a:spcBef>
            </a:pPr>
            <a:r>
              <a:rPr dirty="0" sz="2850" b="1">
                <a:latin typeface="Arial"/>
                <a:cs typeface="Arial"/>
              </a:rPr>
              <a:t>The</a:t>
            </a:r>
            <a:r>
              <a:rPr dirty="0" sz="2850" spc="-80" b="1">
                <a:latin typeface="Arial"/>
                <a:cs typeface="Arial"/>
              </a:rPr>
              <a:t> </a:t>
            </a:r>
            <a:r>
              <a:rPr dirty="0" sz="2850" b="1">
                <a:latin typeface="Arial"/>
                <a:cs typeface="Arial"/>
              </a:rPr>
              <a:t>Harmful</a:t>
            </a:r>
            <a:r>
              <a:rPr dirty="0" sz="2850" spc="-55" b="1">
                <a:latin typeface="Arial"/>
                <a:cs typeface="Arial"/>
              </a:rPr>
              <a:t> </a:t>
            </a:r>
            <a:r>
              <a:rPr dirty="0" sz="2850" b="1">
                <a:latin typeface="Arial"/>
                <a:cs typeface="Arial"/>
              </a:rPr>
              <a:t>Impact</a:t>
            </a:r>
            <a:r>
              <a:rPr dirty="0" sz="2850" spc="-30" b="1">
                <a:latin typeface="Arial"/>
                <a:cs typeface="Arial"/>
              </a:rPr>
              <a:t> </a:t>
            </a:r>
            <a:r>
              <a:rPr dirty="0" sz="2850" b="1">
                <a:latin typeface="Arial"/>
                <a:cs typeface="Arial"/>
              </a:rPr>
              <a:t>of</a:t>
            </a:r>
            <a:r>
              <a:rPr dirty="0" sz="2850" spc="-195" b="1">
                <a:latin typeface="Arial"/>
                <a:cs typeface="Arial"/>
              </a:rPr>
              <a:t> </a:t>
            </a:r>
            <a:r>
              <a:rPr dirty="0" sz="2850" b="1">
                <a:latin typeface="Arial"/>
                <a:cs typeface="Arial"/>
              </a:rPr>
              <a:t>Air</a:t>
            </a:r>
            <a:r>
              <a:rPr dirty="0" sz="2850" spc="-40" b="1">
                <a:latin typeface="Arial"/>
                <a:cs typeface="Arial"/>
              </a:rPr>
              <a:t> </a:t>
            </a:r>
            <a:r>
              <a:rPr dirty="0" sz="2850" spc="-25" b="1">
                <a:latin typeface="Arial"/>
                <a:cs typeface="Arial"/>
              </a:rPr>
              <a:t>Pollution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6207" y="1435608"/>
            <a:ext cx="2877312" cy="28773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5246" y="4488002"/>
            <a:ext cx="232473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solidFill>
                  <a:srgbClr val="223939"/>
                </a:solidFill>
                <a:latin typeface="Arial"/>
                <a:cs typeface="Arial"/>
              </a:rPr>
              <a:t>On</a:t>
            </a:r>
            <a:r>
              <a:rPr dirty="0" sz="2150" spc="-20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223939"/>
                </a:solidFill>
                <a:latin typeface="Arial"/>
                <a:cs typeface="Arial"/>
              </a:rPr>
              <a:t>Human</a:t>
            </a:r>
            <a:r>
              <a:rPr dirty="0" sz="2150" spc="-20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223939"/>
                </a:solidFill>
                <a:latin typeface="Arial"/>
                <a:cs typeface="Arial"/>
              </a:rPr>
              <a:t>Health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5246" y="4974767"/>
            <a:ext cx="6131560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Chronic exposure to</a:t>
            </a:r>
            <a:r>
              <a:rPr dirty="0" sz="14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4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pollutants can</a:t>
            </a:r>
            <a:r>
              <a:rPr dirty="0" sz="14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lead</a:t>
            </a:r>
            <a:r>
              <a:rPr dirty="0" sz="140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4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4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range</a:t>
            </a:r>
            <a:r>
              <a:rPr dirty="0" sz="14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40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severe</a:t>
            </a:r>
            <a:r>
              <a:rPr dirty="0" sz="140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health</a:t>
            </a:r>
            <a:r>
              <a:rPr dirty="0" sz="140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issues, including: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5246" y="5814821"/>
            <a:ext cx="4201160" cy="16592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Respiratory</a:t>
            </a:r>
            <a:r>
              <a:rPr dirty="0" sz="140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diseases</a:t>
            </a:r>
            <a:r>
              <a:rPr dirty="0" sz="14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3A4E4E"/>
                </a:solidFill>
                <a:latin typeface="Tahoma"/>
                <a:cs typeface="Tahoma"/>
              </a:rPr>
              <a:t>(asthma,</a:t>
            </a:r>
            <a:r>
              <a:rPr dirty="0" sz="140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bronchitis)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Cardiovascular</a:t>
            </a:r>
            <a:r>
              <a:rPr dirty="0" sz="140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problems</a:t>
            </a:r>
            <a:r>
              <a:rPr dirty="0" sz="14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(heart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attacks,</a:t>
            </a:r>
            <a:r>
              <a:rPr dirty="0" sz="14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strokes)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15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Neurological</a:t>
            </a:r>
            <a:r>
              <a:rPr dirty="0" sz="1400" spc="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damage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Increased</a:t>
            </a:r>
            <a:r>
              <a:rPr dirty="0" sz="14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risk</a:t>
            </a:r>
            <a:r>
              <a:rPr dirty="0" sz="1400" spc="-114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40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cancer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Premature</a:t>
            </a:r>
            <a:r>
              <a:rPr dirty="0" sz="1400" spc="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3A4E4E"/>
                </a:solidFill>
                <a:latin typeface="Tahoma"/>
                <a:cs typeface="Tahoma"/>
              </a:rPr>
              <a:t>death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3728" y="1435608"/>
            <a:ext cx="3038855" cy="303885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534147" y="4650485"/>
            <a:ext cx="184213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solidFill>
                  <a:srgbClr val="223939"/>
                </a:solidFill>
                <a:latin typeface="Arial"/>
                <a:cs typeface="Arial"/>
              </a:rPr>
              <a:t>On</a:t>
            </a:r>
            <a:r>
              <a:rPr dirty="0" sz="2150" spc="-25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223939"/>
                </a:solidFill>
                <a:latin typeface="Arial"/>
                <a:cs typeface="Arial"/>
              </a:rPr>
              <a:t>Our</a:t>
            </a:r>
            <a:r>
              <a:rPr dirty="0" sz="2150" spc="-5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150" spc="-15" b="1">
                <a:solidFill>
                  <a:srgbClr val="223939"/>
                </a:solidFill>
                <a:latin typeface="Arial"/>
                <a:cs typeface="Arial"/>
              </a:rPr>
              <a:t>Planet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34147" y="5229225"/>
            <a:ext cx="639572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4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r>
              <a:rPr dirty="0" sz="140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significantly</a:t>
            </a:r>
            <a:r>
              <a:rPr dirty="0" sz="1400" spc="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impacts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ecosystems</a:t>
            </a:r>
            <a:r>
              <a:rPr dirty="0" sz="140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400" spc="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contributes</a:t>
            </a:r>
            <a:r>
              <a:rPr dirty="0" sz="1400" spc="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climate</a:t>
            </a:r>
            <a:r>
              <a:rPr dirty="0" sz="14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change: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534147" y="5976620"/>
            <a:ext cx="4443095" cy="16592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Acid</a:t>
            </a:r>
            <a:r>
              <a:rPr dirty="0" sz="140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rain</a:t>
            </a:r>
            <a:r>
              <a:rPr dirty="0" sz="140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damages</a:t>
            </a:r>
            <a:r>
              <a:rPr dirty="0" sz="14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forests</a:t>
            </a:r>
            <a:r>
              <a:rPr dirty="0" sz="14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4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aquatic</a:t>
            </a:r>
            <a:r>
              <a:rPr dirty="0" sz="14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3A4E4E"/>
                </a:solidFill>
                <a:latin typeface="Tahoma"/>
                <a:cs typeface="Tahoma"/>
              </a:rPr>
              <a:t>life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Smog</a:t>
            </a:r>
            <a:r>
              <a:rPr dirty="0" sz="14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reduces</a:t>
            </a:r>
            <a:r>
              <a:rPr dirty="0" sz="140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visibility</a:t>
            </a:r>
            <a:r>
              <a:rPr dirty="0" sz="140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 affects</a:t>
            </a:r>
            <a:r>
              <a:rPr dirty="0" sz="14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plant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growth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15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Greenhouse</a:t>
            </a:r>
            <a:r>
              <a:rPr dirty="0" sz="140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gases</a:t>
            </a:r>
            <a:r>
              <a:rPr dirty="0" sz="14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contribute</a:t>
            </a:r>
            <a:r>
              <a:rPr dirty="0" sz="140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4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global</a:t>
            </a:r>
            <a:r>
              <a:rPr dirty="0" sz="140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warming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Depletion</a:t>
            </a:r>
            <a:r>
              <a:rPr dirty="0" sz="14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4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4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ozone </a:t>
            </a:r>
            <a:r>
              <a:rPr dirty="0" sz="1400" spc="-20">
                <a:solidFill>
                  <a:srgbClr val="3A4E4E"/>
                </a:solidFill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Damage</a:t>
            </a:r>
            <a:r>
              <a:rPr dirty="0" sz="14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40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A4E4E"/>
                </a:solidFill>
                <a:latin typeface="Tahoma"/>
                <a:cs typeface="Tahoma"/>
              </a:rPr>
              <a:t>historical monuments</a:t>
            </a:r>
            <a:r>
              <a:rPr dirty="0" sz="14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4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A4E4E"/>
                </a:solidFill>
                <a:latin typeface="Tahoma"/>
                <a:cs typeface="Tahoma"/>
              </a:rPr>
              <a:t>infrastructure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002029"/>
            <a:ext cx="5250180" cy="5670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b="1">
                <a:latin typeface="Arial"/>
                <a:cs typeface="Arial"/>
              </a:rPr>
              <a:t>Solutions</a:t>
            </a:r>
            <a:r>
              <a:rPr dirty="0" sz="3550" spc="-180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for</a:t>
            </a:r>
            <a:r>
              <a:rPr dirty="0" sz="3550" spc="-250" b="1">
                <a:latin typeface="Arial"/>
                <a:cs typeface="Arial"/>
              </a:rPr>
              <a:t> </a:t>
            </a:r>
            <a:r>
              <a:rPr dirty="0" sz="3550" spc="-10" b="1">
                <a:latin typeface="Arial"/>
                <a:cs typeface="Arial"/>
              </a:rPr>
              <a:t>Cleaner</a:t>
            </a:r>
            <a:r>
              <a:rPr dirty="0" sz="3550" spc="-155" b="1">
                <a:latin typeface="Arial"/>
                <a:cs typeface="Arial"/>
              </a:rPr>
              <a:t> </a:t>
            </a:r>
            <a:r>
              <a:rPr dirty="0" sz="3550" spc="-25" b="1">
                <a:latin typeface="Arial"/>
                <a:cs typeface="Arial"/>
              </a:rPr>
              <a:t>Air</a:t>
            </a:r>
            <a:endParaRPr sz="35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2084832"/>
            <a:ext cx="228600" cy="22555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92480" y="2410967"/>
            <a:ext cx="4197350" cy="30480"/>
          </a:xfrm>
          <a:custGeom>
            <a:avLst/>
            <a:gdLst/>
            <a:ahLst/>
            <a:cxnLst/>
            <a:rect l="l" t="t" r="r" b="b"/>
            <a:pathLst>
              <a:path w="4197350" h="30480">
                <a:moveTo>
                  <a:pt x="4197096" y="0"/>
                </a:moveTo>
                <a:lnTo>
                  <a:pt x="0" y="0"/>
                </a:lnTo>
                <a:lnTo>
                  <a:pt x="0" y="30479"/>
                </a:lnTo>
                <a:lnTo>
                  <a:pt x="4197096" y="30479"/>
                </a:lnTo>
                <a:lnTo>
                  <a:pt x="4197096" y="0"/>
                </a:lnTo>
                <a:close/>
              </a:path>
            </a:pathLst>
          </a:custGeom>
          <a:solidFill>
            <a:srgbClr val="2144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81304" y="2561031"/>
            <a:ext cx="370903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Technological</a:t>
            </a:r>
            <a:r>
              <a:rPr dirty="0" sz="2200" spc="-9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Interventions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1304" y="3356977"/>
            <a:ext cx="3961765" cy="113792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70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Use</a:t>
            </a:r>
            <a:r>
              <a:rPr dirty="0" sz="175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purifiers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homes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offices,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advancements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emission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control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technologies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vehicles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industries.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8176" y="2084832"/>
            <a:ext cx="225551" cy="225551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5218176" y="2410967"/>
            <a:ext cx="4194175" cy="30480"/>
          </a:xfrm>
          <a:custGeom>
            <a:avLst/>
            <a:gdLst/>
            <a:ahLst/>
            <a:cxnLst/>
            <a:rect l="l" t="t" r="r" b="b"/>
            <a:pathLst>
              <a:path w="4194175" h="30480">
                <a:moveTo>
                  <a:pt x="4194048" y="0"/>
                </a:moveTo>
                <a:lnTo>
                  <a:pt x="0" y="0"/>
                </a:lnTo>
                <a:lnTo>
                  <a:pt x="0" y="30479"/>
                </a:lnTo>
                <a:lnTo>
                  <a:pt x="4194048" y="30479"/>
                </a:lnTo>
                <a:lnTo>
                  <a:pt x="4194048" y="0"/>
                </a:lnTo>
                <a:close/>
              </a:path>
            </a:pathLst>
          </a:custGeom>
          <a:solidFill>
            <a:srgbClr val="2144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205476" y="2561031"/>
            <a:ext cx="4073525" cy="157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Transition</a:t>
            </a: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 to</a:t>
            </a:r>
            <a:r>
              <a:rPr dirty="0" sz="2200" spc="-12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Clean</a:t>
            </a:r>
            <a:r>
              <a:rPr dirty="0" sz="2200" spc="-12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Energy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500"/>
              </a:lnSpc>
              <a:spcBef>
                <a:spcPts val="79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Investing</a:t>
            </a:r>
            <a:r>
              <a:rPr dirty="0" sz="1750" spc="-1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</a:t>
            </a:r>
            <a:r>
              <a:rPr dirty="0" sz="1750" spc="-1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solar,</a:t>
            </a:r>
            <a:r>
              <a:rPr dirty="0" sz="1750" spc="-1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wind,</a:t>
            </a:r>
            <a:r>
              <a:rPr dirty="0" sz="1750" spc="-1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1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hydroelectric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power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reduces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reliance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on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fossil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fuels,</a:t>
            </a:r>
            <a:r>
              <a:rPr dirty="0" sz="175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a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major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source</a:t>
            </a:r>
            <a:r>
              <a:rPr dirty="0" sz="1750" spc="-10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pollution.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0823" y="2084832"/>
            <a:ext cx="225551" cy="225551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9640823" y="2410967"/>
            <a:ext cx="4197350" cy="30480"/>
          </a:xfrm>
          <a:custGeom>
            <a:avLst/>
            <a:gdLst/>
            <a:ahLst/>
            <a:cxnLst/>
            <a:rect l="l" t="t" r="r" b="b"/>
            <a:pathLst>
              <a:path w="4197350" h="30480">
                <a:moveTo>
                  <a:pt x="4197095" y="0"/>
                </a:moveTo>
                <a:lnTo>
                  <a:pt x="0" y="0"/>
                </a:lnTo>
                <a:lnTo>
                  <a:pt x="0" y="30479"/>
                </a:lnTo>
                <a:lnTo>
                  <a:pt x="4197095" y="30479"/>
                </a:lnTo>
                <a:lnTo>
                  <a:pt x="4197095" y="0"/>
                </a:lnTo>
                <a:close/>
              </a:path>
            </a:pathLst>
          </a:custGeom>
          <a:solidFill>
            <a:srgbClr val="2144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629647" y="2561031"/>
            <a:ext cx="3996054" cy="157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Sustainable</a:t>
            </a:r>
            <a:r>
              <a:rPr dirty="0" sz="2200" spc="-9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Transportation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500"/>
              </a:lnSpc>
              <a:spcBef>
                <a:spcPts val="79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Promoting</a:t>
            </a:r>
            <a:r>
              <a:rPr dirty="0" sz="175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electric</a:t>
            </a:r>
            <a:r>
              <a:rPr dirty="0" sz="1750" spc="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vehicles,</a:t>
            </a:r>
            <a:r>
              <a:rPr dirty="0" sz="175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public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transport,</a:t>
            </a:r>
            <a:r>
              <a:rPr dirty="0" sz="17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cycling,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walking</a:t>
            </a:r>
            <a:r>
              <a:rPr dirty="0" sz="1750" spc="-1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reduce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vehicular</a:t>
            </a:r>
            <a:r>
              <a:rPr dirty="0" sz="1750" spc="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emissions.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4943855"/>
            <a:ext cx="228600" cy="225552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792480" y="5269991"/>
            <a:ext cx="6410325" cy="30480"/>
          </a:xfrm>
          <a:custGeom>
            <a:avLst/>
            <a:gdLst/>
            <a:ahLst/>
            <a:cxnLst/>
            <a:rect l="l" t="t" r="r" b="b"/>
            <a:pathLst>
              <a:path w="6410325" h="30479">
                <a:moveTo>
                  <a:pt x="6409944" y="0"/>
                </a:moveTo>
                <a:lnTo>
                  <a:pt x="0" y="0"/>
                </a:lnTo>
                <a:lnTo>
                  <a:pt x="0" y="30479"/>
                </a:lnTo>
                <a:lnTo>
                  <a:pt x="6409944" y="30479"/>
                </a:lnTo>
                <a:lnTo>
                  <a:pt x="6409944" y="0"/>
                </a:lnTo>
                <a:close/>
              </a:path>
            </a:pathLst>
          </a:custGeom>
          <a:solidFill>
            <a:srgbClr val="2144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81304" y="5422138"/>
            <a:ext cx="5778500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Urban</a:t>
            </a:r>
            <a:r>
              <a:rPr dirty="0" sz="2200" spc="-11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3A4E4E"/>
                </a:solidFill>
                <a:latin typeface="Arial"/>
                <a:cs typeface="Arial"/>
              </a:rPr>
              <a:t>Planning </a:t>
            </a: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&amp;</a:t>
            </a:r>
            <a:r>
              <a:rPr dirty="0" sz="2200" spc="-13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Green</a:t>
            </a:r>
            <a:r>
              <a:rPr dirty="0" sz="2200" spc="-11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Spaces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Designing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cities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with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more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green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areas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promoting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tree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planting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helps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filter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pollutants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improve air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quality.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7976" y="4943855"/>
            <a:ext cx="228600" cy="225552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7427976" y="5269991"/>
            <a:ext cx="6410325" cy="30480"/>
          </a:xfrm>
          <a:custGeom>
            <a:avLst/>
            <a:gdLst/>
            <a:ahLst/>
            <a:cxnLst/>
            <a:rect l="l" t="t" r="r" b="b"/>
            <a:pathLst>
              <a:path w="6410325" h="30479">
                <a:moveTo>
                  <a:pt x="6409943" y="0"/>
                </a:moveTo>
                <a:lnTo>
                  <a:pt x="0" y="0"/>
                </a:lnTo>
                <a:lnTo>
                  <a:pt x="0" y="30479"/>
                </a:lnTo>
                <a:lnTo>
                  <a:pt x="6409943" y="30479"/>
                </a:lnTo>
                <a:lnTo>
                  <a:pt x="6409943" y="0"/>
                </a:lnTo>
                <a:close/>
              </a:path>
            </a:pathLst>
          </a:custGeom>
          <a:solidFill>
            <a:srgbClr val="2144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417434" y="5422138"/>
            <a:ext cx="6308090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Stricter</a:t>
            </a:r>
            <a:r>
              <a:rPr dirty="0" sz="2200" spc="-4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Regulations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Government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policies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enforcement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emission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standards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industries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vehicles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are</a:t>
            </a:r>
            <a:r>
              <a:rPr dirty="0" sz="1750" spc="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crucial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long-term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improvement.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341820"/>
            <a:ext cx="12847320" cy="1663064"/>
          </a:xfrm>
          <a:prstGeom prst="rect"/>
        </p:spPr>
        <p:txBody>
          <a:bodyPr wrap="square" lIns="0" tIns="168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3550" spc="-70" b="1">
                <a:latin typeface="Arial"/>
                <a:cs typeface="Arial"/>
              </a:rPr>
              <a:t>Project</a:t>
            </a:r>
            <a:r>
              <a:rPr dirty="0" sz="3550" spc="-155" b="1">
                <a:latin typeface="Arial"/>
                <a:cs typeface="Arial"/>
              </a:rPr>
              <a:t> </a:t>
            </a:r>
            <a:r>
              <a:rPr dirty="0" sz="3550" spc="-45" b="1">
                <a:latin typeface="Arial"/>
                <a:cs typeface="Arial"/>
              </a:rPr>
              <a:t>Impact:</a:t>
            </a:r>
            <a:r>
              <a:rPr dirty="0" sz="3550" spc="-27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A</a:t>
            </a:r>
            <a:r>
              <a:rPr dirty="0" sz="3550" spc="-24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Step</a:t>
            </a:r>
            <a:r>
              <a:rPr dirty="0" sz="3550" spc="-10" b="1">
                <a:latin typeface="Arial"/>
                <a:cs typeface="Arial"/>
              </a:rPr>
              <a:t> </a:t>
            </a:r>
            <a:r>
              <a:rPr dirty="0" sz="3550" spc="-55" b="1">
                <a:latin typeface="Arial"/>
                <a:cs typeface="Arial"/>
              </a:rPr>
              <a:t>Towards</a:t>
            </a:r>
            <a:r>
              <a:rPr dirty="0" sz="3550" spc="-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a</a:t>
            </a:r>
            <a:r>
              <a:rPr dirty="0" sz="3550" spc="-110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Healthier</a:t>
            </a:r>
            <a:r>
              <a:rPr dirty="0" sz="3550" spc="-15" b="1">
                <a:latin typeface="Arial"/>
                <a:cs typeface="Arial"/>
              </a:rPr>
              <a:t> </a:t>
            </a:r>
            <a:r>
              <a:rPr dirty="0" sz="3550" spc="-10" b="1">
                <a:latin typeface="Arial"/>
                <a:cs typeface="Arial"/>
              </a:rPr>
              <a:t>Future</a:t>
            </a:r>
            <a:endParaRPr sz="3550">
              <a:latin typeface="Arial"/>
              <a:cs typeface="Arial"/>
            </a:endParaRPr>
          </a:p>
          <a:p>
            <a:pPr marL="12700" marR="5080">
              <a:lnSpc>
                <a:spcPct val="104200"/>
              </a:lnSpc>
              <a:spcBef>
                <a:spcPts val="775"/>
              </a:spcBef>
            </a:pPr>
            <a:r>
              <a:rPr dirty="0" sz="2650" b="1">
                <a:latin typeface="Arial"/>
                <a:cs typeface="Arial"/>
              </a:rPr>
              <a:t>Our</a:t>
            </a:r>
            <a:r>
              <a:rPr dirty="0" sz="2650" spc="-95" b="1">
                <a:latin typeface="Arial"/>
                <a:cs typeface="Arial"/>
              </a:rPr>
              <a:t> </a:t>
            </a:r>
            <a:r>
              <a:rPr dirty="0" sz="2650" spc="-10" b="1">
                <a:latin typeface="Arial"/>
                <a:cs typeface="Arial"/>
              </a:rPr>
              <a:t>project</a:t>
            </a:r>
            <a:r>
              <a:rPr dirty="0" sz="2650" spc="-13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contributes</a:t>
            </a:r>
            <a:r>
              <a:rPr dirty="0" sz="2650" spc="-105" b="1">
                <a:latin typeface="Arial"/>
                <a:cs typeface="Arial"/>
              </a:rPr>
              <a:t> </a:t>
            </a:r>
            <a:r>
              <a:rPr dirty="0" sz="2650" spc="-10" b="1">
                <a:latin typeface="Arial"/>
                <a:cs typeface="Arial"/>
              </a:rPr>
              <a:t>significantly</a:t>
            </a:r>
            <a:r>
              <a:rPr dirty="0" sz="2650" spc="-12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to</a:t>
            </a:r>
            <a:r>
              <a:rPr dirty="0" sz="2650" spc="-8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environmental</a:t>
            </a:r>
            <a:r>
              <a:rPr dirty="0" sz="2650" spc="10" b="1">
                <a:latin typeface="Arial"/>
                <a:cs typeface="Arial"/>
              </a:rPr>
              <a:t> </a:t>
            </a:r>
            <a:r>
              <a:rPr dirty="0" sz="2650" spc="-20" b="1">
                <a:latin typeface="Arial"/>
                <a:cs typeface="Arial"/>
              </a:rPr>
              <a:t>stewardship</a:t>
            </a:r>
            <a:r>
              <a:rPr dirty="0" sz="2650" spc="-130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and</a:t>
            </a:r>
            <a:r>
              <a:rPr dirty="0" sz="2650" spc="-60" b="1">
                <a:latin typeface="Arial"/>
                <a:cs typeface="Arial"/>
              </a:rPr>
              <a:t> </a:t>
            </a:r>
            <a:r>
              <a:rPr dirty="0" sz="2650" spc="-10" b="1">
                <a:latin typeface="Arial"/>
                <a:cs typeface="Arial"/>
              </a:rPr>
              <a:t>problem- </a:t>
            </a:r>
            <a:r>
              <a:rPr dirty="0" sz="2650" b="1">
                <a:latin typeface="Arial"/>
                <a:cs typeface="Arial"/>
              </a:rPr>
              <a:t>solving</a:t>
            </a:r>
            <a:r>
              <a:rPr dirty="0" sz="2650" spc="-4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by</a:t>
            </a:r>
            <a:r>
              <a:rPr dirty="0" sz="2650" spc="-14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providing</a:t>
            </a:r>
            <a:r>
              <a:rPr dirty="0" sz="2650" spc="-3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actionable</a:t>
            </a:r>
            <a:r>
              <a:rPr dirty="0" sz="2650" spc="-100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insights</a:t>
            </a:r>
            <a:r>
              <a:rPr dirty="0" sz="2650" spc="-60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into</a:t>
            </a:r>
            <a:r>
              <a:rPr dirty="0" sz="2650" spc="-75" b="1">
                <a:latin typeface="Arial"/>
                <a:cs typeface="Arial"/>
              </a:rPr>
              <a:t> </a:t>
            </a:r>
            <a:r>
              <a:rPr dirty="0" sz="2650" b="1">
                <a:latin typeface="Arial"/>
                <a:cs typeface="Arial"/>
              </a:rPr>
              <a:t>air</a:t>
            </a:r>
            <a:r>
              <a:rPr dirty="0" sz="2650" spc="-70" b="1">
                <a:latin typeface="Arial"/>
                <a:cs typeface="Arial"/>
              </a:rPr>
              <a:t> </a:t>
            </a:r>
            <a:r>
              <a:rPr dirty="0" sz="2650" spc="-10" b="1">
                <a:latin typeface="Arial"/>
                <a:cs typeface="Arial"/>
              </a:rPr>
              <a:t>quality.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89431" y="3377184"/>
            <a:ext cx="4206240" cy="3328670"/>
            <a:chOff x="789431" y="3377184"/>
            <a:chExt cx="4206240" cy="3328670"/>
          </a:xfrm>
        </p:grpSpPr>
        <p:sp>
          <p:nvSpPr>
            <p:cNvPr id="4" name="object 4" descr=""/>
            <p:cNvSpPr/>
            <p:nvPr/>
          </p:nvSpPr>
          <p:spPr>
            <a:xfrm>
              <a:off x="794003" y="3381756"/>
              <a:ext cx="4197350" cy="3319779"/>
            </a:xfrm>
            <a:custGeom>
              <a:avLst/>
              <a:gdLst/>
              <a:ahLst/>
              <a:cxnLst/>
              <a:rect l="l" t="t" r="r" b="b"/>
              <a:pathLst>
                <a:path w="4197350" h="3319779">
                  <a:moveTo>
                    <a:pt x="4101846" y="0"/>
                  </a:moveTo>
                  <a:lnTo>
                    <a:pt x="95300" y="0"/>
                  </a:lnTo>
                  <a:lnTo>
                    <a:pt x="58207" y="7489"/>
                  </a:lnTo>
                  <a:lnTo>
                    <a:pt x="27914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3224022"/>
                  </a:lnTo>
                  <a:lnTo>
                    <a:pt x="7489" y="3261086"/>
                  </a:lnTo>
                  <a:lnTo>
                    <a:pt x="27914" y="3291363"/>
                  </a:lnTo>
                  <a:lnTo>
                    <a:pt x="58207" y="3311782"/>
                  </a:lnTo>
                  <a:lnTo>
                    <a:pt x="95300" y="3319272"/>
                  </a:lnTo>
                  <a:lnTo>
                    <a:pt x="4101846" y="3319272"/>
                  </a:lnTo>
                  <a:lnTo>
                    <a:pt x="4138910" y="3311782"/>
                  </a:lnTo>
                  <a:lnTo>
                    <a:pt x="4169187" y="3291363"/>
                  </a:lnTo>
                  <a:lnTo>
                    <a:pt x="4189606" y="3261086"/>
                  </a:lnTo>
                  <a:lnTo>
                    <a:pt x="4197096" y="3224022"/>
                  </a:lnTo>
                  <a:lnTo>
                    <a:pt x="4197096" y="95250"/>
                  </a:lnTo>
                  <a:lnTo>
                    <a:pt x="4189606" y="58185"/>
                  </a:lnTo>
                  <a:lnTo>
                    <a:pt x="4169187" y="27908"/>
                  </a:lnTo>
                  <a:lnTo>
                    <a:pt x="4138910" y="7489"/>
                  </a:lnTo>
                  <a:lnTo>
                    <a:pt x="4101846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4003" y="3381756"/>
              <a:ext cx="4197350" cy="3319779"/>
            </a:xfrm>
            <a:custGeom>
              <a:avLst/>
              <a:gdLst/>
              <a:ahLst/>
              <a:cxnLst/>
              <a:rect l="l" t="t" r="r" b="b"/>
              <a:pathLst>
                <a:path w="4197350" h="3319779">
                  <a:moveTo>
                    <a:pt x="0" y="95250"/>
                  </a:moveTo>
                  <a:lnTo>
                    <a:pt x="7489" y="58185"/>
                  </a:lnTo>
                  <a:lnTo>
                    <a:pt x="27914" y="27908"/>
                  </a:lnTo>
                  <a:lnTo>
                    <a:pt x="58207" y="7489"/>
                  </a:lnTo>
                  <a:lnTo>
                    <a:pt x="95300" y="0"/>
                  </a:lnTo>
                  <a:lnTo>
                    <a:pt x="4101846" y="0"/>
                  </a:lnTo>
                  <a:lnTo>
                    <a:pt x="4138910" y="7489"/>
                  </a:lnTo>
                  <a:lnTo>
                    <a:pt x="4169187" y="27908"/>
                  </a:lnTo>
                  <a:lnTo>
                    <a:pt x="4189606" y="58185"/>
                  </a:lnTo>
                  <a:lnTo>
                    <a:pt x="4197096" y="95250"/>
                  </a:lnTo>
                  <a:lnTo>
                    <a:pt x="4197096" y="3224022"/>
                  </a:lnTo>
                  <a:lnTo>
                    <a:pt x="4189606" y="3261086"/>
                  </a:lnTo>
                  <a:lnTo>
                    <a:pt x="4169187" y="3291363"/>
                  </a:lnTo>
                  <a:lnTo>
                    <a:pt x="4138910" y="3311782"/>
                  </a:lnTo>
                  <a:lnTo>
                    <a:pt x="4101846" y="3319272"/>
                  </a:lnTo>
                  <a:lnTo>
                    <a:pt x="95300" y="3319272"/>
                  </a:lnTo>
                  <a:lnTo>
                    <a:pt x="58207" y="3311782"/>
                  </a:lnTo>
                  <a:lnTo>
                    <a:pt x="27914" y="3291363"/>
                  </a:lnTo>
                  <a:lnTo>
                    <a:pt x="7489" y="3261086"/>
                  </a:lnTo>
                  <a:lnTo>
                    <a:pt x="0" y="3224022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7175" y="3614928"/>
              <a:ext cx="683260" cy="680085"/>
            </a:xfrm>
            <a:custGeom>
              <a:avLst/>
              <a:gdLst/>
              <a:ahLst/>
              <a:cxnLst/>
              <a:rect l="l" t="t" r="r" b="b"/>
              <a:pathLst>
                <a:path w="683260" h="680085">
                  <a:moveTo>
                    <a:pt x="342900" y="0"/>
                  </a:moveTo>
                  <a:lnTo>
                    <a:pt x="339852" y="0"/>
                  </a:lnTo>
                  <a:lnTo>
                    <a:pt x="293736" y="3102"/>
                  </a:lnTo>
                  <a:lnTo>
                    <a:pt x="249506" y="12139"/>
                  </a:lnTo>
                  <a:lnTo>
                    <a:pt x="207567" y="26705"/>
                  </a:lnTo>
                  <a:lnTo>
                    <a:pt x="168322" y="46397"/>
                  </a:lnTo>
                  <a:lnTo>
                    <a:pt x="132179" y="70809"/>
                  </a:lnTo>
                  <a:lnTo>
                    <a:pt x="99541" y="99536"/>
                  </a:lnTo>
                  <a:lnTo>
                    <a:pt x="70812" y="132173"/>
                  </a:lnTo>
                  <a:lnTo>
                    <a:pt x="46400" y="168317"/>
                  </a:lnTo>
                  <a:lnTo>
                    <a:pt x="26707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7" y="472142"/>
                  </a:lnTo>
                  <a:lnTo>
                    <a:pt x="46400" y="511386"/>
                  </a:lnTo>
                  <a:lnTo>
                    <a:pt x="70812" y="547530"/>
                  </a:lnTo>
                  <a:lnTo>
                    <a:pt x="99541" y="580167"/>
                  </a:lnTo>
                  <a:lnTo>
                    <a:pt x="132179" y="608894"/>
                  </a:lnTo>
                  <a:lnTo>
                    <a:pt x="168322" y="633306"/>
                  </a:lnTo>
                  <a:lnTo>
                    <a:pt x="207567" y="652998"/>
                  </a:lnTo>
                  <a:lnTo>
                    <a:pt x="249506" y="667564"/>
                  </a:lnTo>
                  <a:lnTo>
                    <a:pt x="293736" y="676601"/>
                  </a:lnTo>
                  <a:lnTo>
                    <a:pt x="339852" y="679704"/>
                  </a:lnTo>
                  <a:lnTo>
                    <a:pt x="342900" y="679704"/>
                  </a:lnTo>
                  <a:lnTo>
                    <a:pt x="389018" y="676601"/>
                  </a:lnTo>
                  <a:lnTo>
                    <a:pt x="433249" y="667564"/>
                  </a:lnTo>
                  <a:lnTo>
                    <a:pt x="475190" y="652998"/>
                  </a:lnTo>
                  <a:lnTo>
                    <a:pt x="514434" y="633306"/>
                  </a:lnTo>
                  <a:lnTo>
                    <a:pt x="550578" y="608894"/>
                  </a:lnTo>
                  <a:lnTo>
                    <a:pt x="583215" y="580167"/>
                  </a:lnTo>
                  <a:lnTo>
                    <a:pt x="611942" y="547530"/>
                  </a:lnTo>
                  <a:lnTo>
                    <a:pt x="636354" y="511386"/>
                  </a:lnTo>
                  <a:lnTo>
                    <a:pt x="656046" y="472142"/>
                  </a:lnTo>
                  <a:lnTo>
                    <a:pt x="670612" y="430201"/>
                  </a:lnTo>
                  <a:lnTo>
                    <a:pt x="679649" y="385970"/>
                  </a:lnTo>
                  <a:lnTo>
                    <a:pt x="682751" y="339851"/>
                  </a:lnTo>
                  <a:lnTo>
                    <a:pt x="679649" y="293733"/>
                  </a:lnTo>
                  <a:lnTo>
                    <a:pt x="670612" y="249502"/>
                  </a:lnTo>
                  <a:lnTo>
                    <a:pt x="656046" y="207561"/>
                  </a:lnTo>
                  <a:lnTo>
                    <a:pt x="636354" y="168317"/>
                  </a:lnTo>
                  <a:lnTo>
                    <a:pt x="611942" y="132173"/>
                  </a:lnTo>
                  <a:lnTo>
                    <a:pt x="583215" y="99536"/>
                  </a:lnTo>
                  <a:lnTo>
                    <a:pt x="550578" y="70809"/>
                  </a:lnTo>
                  <a:lnTo>
                    <a:pt x="514434" y="46397"/>
                  </a:lnTo>
                  <a:lnTo>
                    <a:pt x="475190" y="26705"/>
                  </a:lnTo>
                  <a:lnTo>
                    <a:pt x="433249" y="12139"/>
                  </a:lnTo>
                  <a:lnTo>
                    <a:pt x="389018" y="310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6151" y="3800856"/>
              <a:ext cx="304800" cy="30784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015695" y="4498035"/>
            <a:ext cx="353822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b="1">
                <a:solidFill>
                  <a:srgbClr val="3A4E4E"/>
                </a:solidFill>
                <a:latin typeface="Arial"/>
                <a:cs typeface="Arial"/>
              </a:rPr>
              <a:t>Environmental</a:t>
            </a:r>
            <a:r>
              <a:rPr dirty="0" sz="2200" spc="-8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3A4E4E"/>
                </a:solidFill>
                <a:latin typeface="Arial"/>
                <a:cs typeface="Arial"/>
              </a:rPr>
              <a:t>Contributor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5695" y="5293981"/>
            <a:ext cx="3704590" cy="113792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70"/>
              </a:spcBef>
            </a:pPr>
            <a:r>
              <a:rPr dirty="0" sz="1750" spc="55">
                <a:solidFill>
                  <a:srgbClr val="3A4E4E"/>
                </a:solidFill>
                <a:latin typeface="Tahoma"/>
                <a:cs typeface="Tahoma"/>
              </a:rPr>
              <a:t>By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forecasting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levels,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we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enable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proactive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measures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protect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ecosystems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biodiversity.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215128" y="3377184"/>
            <a:ext cx="4203700" cy="3328670"/>
            <a:chOff x="5215128" y="3377184"/>
            <a:chExt cx="4203700" cy="3328670"/>
          </a:xfrm>
        </p:grpSpPr>
        <p:sp>
          <p:nvSpPr>
            <p:cNvPr id="11" name="object 11" descr=""/>
            <p:cNvSpPr/>
            <p:nvPr/>
          </p:nvSpPr>
          <p:spPr>
            <a:xfrm>
              <a:off x="5219700" y="3381756"/>
              <a:ext cx="4194175" cy="3319779"/>
            </a:xfrm>
            <a:custGeom>
              <a:avLst/>
              <a:gdLst/>
              <a:ahLst/>
              <a:cxnLst/>
              <a:rect l="l" t="t" r="r" b="b"/>
              <a:pathLst>
                <a:path w="4194175" h="3319779">
                  <a:moveTo>
                    <a:pt x="4098798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3224022"/>
                  </a:lnTo>
                  <a:lnTo>
                    <a:pt x="7489" y="3261086"/>
                  </a:lnTo>
                  <a:lnTo>
                    <a:pt x="27908" y="3291363"/>
                  </a:lnTo>
                  <a:lnTo>
                    <a:pt x="58185" y="3311782"/>
                  </a:lnTo>
                  <a:lnTo>
                    <a:pt x="95250" y="3319272"/>
                  </a:lnTo>
                  <a:lnTo>
                    <a:pt x="4098798" y="3319272"/>
                  </a:lnTo>
                  <a:lnTo>
                    <a:pt x="4135862" y="3311782"/>
                  </a:lnTo>
                  <a:lnTo>
                    <a:pt x="4166139" y="3291363"/>
                  </a:lnTo>
                  <a:lnTo>
                    <a:pt x="4186558" y="3261086"/>
                  </a:lnTo>
                  <a:lnTo>
                    <a:pt x="4194048" y="3224022"/>
                  </a:lnTo>
                  <a:lnTo>
                    <a:pt x="4194048" y="95250"/>
                  </a:lnTo>
                  <a:lnTo>
                    <a:pt x="4186558" y="58185"/>
                  </a:lnTo>
                  <a:lnTo>
                    <a:pt x="4166139" y="27908"/>
                  </a:lnTo>
                  <a:lnTo>
                    <a:pt x="4135862" y="7489"/>
                  </a:lnTo>
                  <a:lnTo>
                    <a:pt x="4098798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19700" y="3381756"/>
              <a:ext cx="4194175" cy="3319779"/>
            </a:xfrm>
            <a:custGeom>
              <a:avLst/>
              <a:gdLst/>
              <a:ahLst/>
              <a:cxnLst/>
              <a:rect l="l" t="t" r="r" b="b"/>
              <a:pathLst>
                <a:path w="4194175" h="3319779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4098798" y="0"/>
                  </a:lnTo>
                  <a:lnTo>
                    <a:pt x="4135862" y="7489"/>
                  </a:lnTo>
                  <a:lnTo>
                    <a:pt x="4166139" y="27908"/>
                  </a:lnTo>
                  <a:lnTo>
                    <a:pt x="4186558" y="58185"/>
                  </a:lnTo>
                  <a:lnTo>
                    <a:pt x="4194048" y="95250"/>
                  </a:lnTo>
                  <a:lnTo>
                    <a:pt x="4194048" y="3224022"/>
                  </a:lnTo>
                  <a:lnTo>
                    <a:pt x="4186558" y="3261086"/>
                  </a:lnTo>
                  <a:lnTo>
                    <a:pt x="4166139" y="3291363"/>
                  </a:lnTo>
                  <a:lnTo>
                    <a:pt x="4135862" y="3311782"/>
                  </a:lnTo>
                  <a:lnTo>
                    <a:pt x="4098798" y="3319272"/>
                  </a:lnTo>
                  <a:lnTo>
                    <a:pt x="95250" y="3319272"/>
                  </a:lnTo>
                  <a:lnTo>
                    <a:pt x="58185" y="3311782"/>
                  </a:lnTo>
                  <a:lnTo>
                    <a:pt x="27908" y="3291363"/>
                  </a:lnTo>
                  <a:lnTo>
                    <a:pt x="7489" y="3261086"/>
                  </a:lnTo>
                  <a:lnTo>
                    <a:pt x="0" y="3224022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452872" y="3614928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5" h="680085">
                  <a:moveTo>
                    <a:pt x="339851" y="0"/>
                  </a:moveTo>
                  <a:lnTo>
                    <a:pt x="293733" y="3102"/>
                  </a:lnTo>
                  <a:lnTo>
                    <a:pt x="249502" y="12139"/>
                  </a:lnTo>
                  <a:lnTo>
                    <a:pt x="207561" y="26705"/>
                  </a:lnTo>
                  <a:lnTo>
                    <a:pt x="168317" y="46397"/>
                  </a:lnTo>
                  <a:lnTo>
                    <a:pt x="132173" y="70809"/>
                  </a:lnTo>
                  <a:lnTo>
                    <a:pt x="99536" y="99536"/>
                  </a:lnTo>
                  <a:lnTo>
                    <a:pt x="70809" y="132173"/>
                  </a:lnTo>
                  <a:lnTo>
                    <a:pt x="46397" y="168317"/>
                  </a:lnTo>
                  <a:lnTo>
                    <a:pt x="26705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5" y="472142"/>
                  </a:lnTo>
                  <a:lnTo>
                    <a:pt x="46397" y="511386"/>
                  </a:lnTo>
                  <a:lnTo>
                    <a:pt x="70809" y="547530"/>
                  </a:lnTo>
                  <a:lnTo>
                    <a:pt x="99536" y="580167"/>
                  </a:lnTo>
                  <a:lnTo>
                    <a:pt x="132173" y="608894"/>
                  </a:lnTo>
                  <a:lnTo>
                    <a:pt x="168317" y="633306"/>
                  </a:lnTo>
                  <a:lnTo>
                    <a:pt x="207561" y="652998"/>
                  </a:lnTo>
                  <a:lnTo>
                    <a:pt x="249502" y="667564"/>
                  </a:lnTo>
                  <a:lnTo>
                    <a:pt x="293733" y="676601"/>
                  </a:lnTo>
                  <a:lnTo>
                    <a:pt x="339851" y="679704"/>
                  </a:lnTo>
                  <a:lnTo>
                    <a:pt x="385970" y="676601"/>
                  </a:lnTo>
                  <a:lnTo>
                    <a:pt x="430201" y="667564"/>
                  </a:lnTo>
                  <a:lnTo>
                    <a:pt x="472142" y="652998"/>
                  </a:lnTo>
                  <a:lnTo>
                    <a:pt x="511386" y="633306"/>
                  </a:lnTo>
                  <a:lnTo>
                    <a:pt x="547530" y="608894"/>
                  </a:lnTo>
                  <a:lnTo>
                    <a:pt x="580167" y="580167"/>
                  </a:lnTo>
                  <a:lnTo>
                    <a:pt x="608894" y="547530"/>
                  </a:lnTo>
                  <a:lnTo>
                    <a:pt x="633306" y="511386"/>
                  </a:lnTo>
                  <a:lnTo>
                    <a:pt x="652998" y="472142"/>
                  </a:lnTo>
                  <a:lnTo>
                    <a:pt x="667564" y="430201"/>
                  </a:lnTo>
                  <a:lnTo>
                    <a:pt x="676601" y="385970"/>
                  </a:lnTo>
                  <a:lnTo>
                    <a:pt x="679703" y="339851"/>
                  </a:lnTo>
                  <a:lnTo>
                    <a:pt x="676601" y="293733"/>
                  </a:lnTo>
                  <a:lnTo>
                    <a:pt x="667564" y="249502"/>
                  </a:lnTo>
                  <a:lnTo>
                    <a:pt x="652998" y="207561"/>
                  </a:lnTo>
                  <a:lnTo>
                    <a:pt x="633306" y="168317"/>
                  </a:lnTo>
                  <a:lnTo>
                    <a:pt x="608894" y="132173"/>
                  </a:lnTo>
                  <a:lnTo>
                    <a:pt x="580167" y="99536"/>
                  </a:lnTo>
                  <a:lnTo>
                    <a:pt x="547530" y="70809"/>
                  </a:lnTo>
                  <a:lnTo>
                    <a:pt x="511386" y="46397"/>
                  </a:lnTo>
                  <a:lnTo>
                    <a:pt x="472142" y="26705"/>
                  </a:lnTo>
                  <a:lnTo>
                    <a:pt x="430201" y="12139"/>
                  </a:lnTo>
                  <a:lnTo>
                    <a:pt x="385970" y="3102"/>
                  </a:lnTo>
                  <a:lnTo>
                    <a:pt x="339851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3800856"/>
              <a:ext cx="304800" cy="307848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439917" y="4498035"/>
            <a:ext cx="3714750" cy="1948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20" b="1">
                <a:solidFill>
                  <a:srgbClr val="3A4E4E"/>
                </a:solidFill>
                <a:latin typeface="Arial"/>
                <a:cs typeface="Arial"/>
              </a:rPr>
              <a:t>Humanitarian</a:t>
            </a:r>
            <a:r>
              <a:rPr dirty="0" sz="2200" spc="-35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Benefit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100"/>
              </a:lnSpc>
              <a:spcBef>
                <a:spcPts val="80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Empowering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communities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with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timely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alerts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allows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better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health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management</a:t>
            </a:r>
            <a:r>
              <a:rPr dirty="0" sz="1750" spc="-1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1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improved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well-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being.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637776" y="3377184"/>
            <a:ext cx="4206240" cy="3328670"/>
            <a:chOff x="9637776" y="3377184"/>
            <a:chExt cx="4206240" cy="3328670"/>
          </a:xfrm>
        </p:grpSpPr>
        <p:sp>
          <p:nvSpPr>
            <p:cNvPr id="17" name="object 17" descr=""/>
            <p:cNvSpPr/>
            <p:nvPr/>
          </p:nvSpPr>
          <p:spPr>
            <a:xfrm>
              <a:off x="9642348" y="3381756"/>
              <a:ext cx="4197350" cy="3319779"/>
            </a:xfrm>
            <a:custGeom>
              <a:avLst/>
              <a:gdLst/>
              <a:ahLst/>
              <a:cxnLst/>
              <a:rect l="l" t="t" r="r" b="b"/>
              <a:pathLst>
                <a:path w="4197350" h="3319779">
                  <a:moveTo>
                    <a:pt x="4101846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3224022"/>
                  </a:lnTo>
                  <a:lnTo>
                    <a:pt x="7489" y="3261086"/>
                  </a:lnTo>
                  <a:lnTo>
                    <a:pt x="27908" y="3291363"/>
                  </a:lnTo>
                  <a:lnTo>
                    <a:pt x="58185" y="3311782"/>
                  </a:lnTo>
                  <a:lnTo>
                    <a:pt x="95250" y="3319272"/>
                  </a:lnTo>
                  <a:lnTo>
                    <a:pt x="4101846" y="3319272"/>
                  </a:lnTo>
                  <a:lnTo>
                    <a:pt x="4138910" y="3311782"/>
                  </a:lnTo>
                  <a:lnTo>
                    <a:pt x="4169187" y="3291363"/>
                  </a:lnTo>
                  <a:lnTo>
                    <a:pt x="4189606" y="3261086"/>
                  </a:lnTo>
                  <a:lnTo>
                    <a:pt x="4197096" y="3224022"/>
                  </a:lnTo>
                  <a:lnTo>
                    <a:pt x="4197096" y="95250"/>
                  </a:lnTo>
                  <a:lnTo>
                    <a:pt x="4189606" y="58185"/>
                  </a:lnTo>
                  <a:lnTo>
                    <a:pt x="4169187" y="27908"/>
                  </a:lnTo>
                  <a:lnTo>
                    <a:pt x="4138910" y="7489"/>
                  </a:lnTo>
                  <a:lnTo>
                    <a:pt x="4101846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642348" y="3381756"/>
              <a:ext cx="4197350" cy="3319779"/>
            </a:xfrm>
            <a:custGeom>
              <a:avLst/>
              <a:gdLst/>
              <a:ahLst/>
              <a:cxnLst/>
              <a:rect l="l" t="t" r="r" b="b"/>
              <a:pathLst>
                <a:path w="4197350" h="3319779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4101846" y="0"/>
                  </a:lnTo>
                  <a:lnTo>
                    <a:pt x="4138910" y="7489"/>
                  </a:lnTo>
                  <a:lnTo>
                    <a:pt x="4169187" y="27908"/>
                  </a:lnTo>
                  <a:lnTo>
                    <a:pt x="4189606" y="58185"/>
                  </a:lnTo>
                  <a:lnTo>
                    <a:pt x="4197096" y="95250"/>
                  </a:lnTo>
                  <a:lnTo>
                    <a:pt x="4197096" y="3224022"/>
                  </a:lnTo>
                  <a:lnTo>
                    <a:pt x="4189606" y="3261086"/>
                  </a:lnTo>
                  <a:lnTo>
                    <a:pt x="4169187" y="3291363"/>
                  </a:lnTo>
                  <a:lnTo>
                    <a:pt x="4138910" y="3311782"/>
                  </a:lnTo>
                  <a:lnTo>
                    <a:pt x="4101846" y="3319272"/>
                  </a:lnTo>
                  <a:lnTo>
                    <a:pt x="95250" y="3319272"/>
                  </a:lnTo>
                  <a:lnTo>
                    <a:pt x="58185" y="3311782"/>
                  </a:lnTo>
                  <a:lnTo>
                    <a:pt x="27908" y="3291363"/>
                  </a:lnTo>
                  <a:lnTo>
                    <a:pt x="7489" y="3261086"/>
                  </a:lnTo>
                  <a:lnTo>
                    <a:pt x="0" y="3224022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75520" y="3614928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4" h="680085">
                  <a:moveTo>
                    <a:pt x="339851" y="0"/>
                  </a:moveTo>
                  <a:lnTo>
                    <a:pt x="293733" y="3102"/>
                  </a:lnTo>
                  <a:lnTo>
                    <a:pt x="249502" y="12139"/>
                  </a:lnTo>
                  <a:lnTo>
                    <a:pt x="207561" y="26705"/>
                  </a:lnTo>
                  <a:lnTo>
                    <a:pt x="168317" y="46397"/>
                  </a:lnTo>
                  <a:lnTo>
                    <a:pt x="132173" y="70809"/>
                  </a:lnTo>
                  <a:lnTo>
                    <a:pt x="99536" y="99536"/>
                  </a:lnTo>
                  <a:lnTo>
                    <a:pt x="70809" y="132173"/>
                  </a:lnTo>
                  <a:lnTo>
                    <a:pt x="46397" y="168317"/>
                  </a:lnTo>
                  <a:lnTo>
                    <a:pt x="26705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5" y="472142"/>
                  </a:lnTo>
                  <a:lnTo>
                    <a:pt x="46397" y="511386"/>
                  </a:lnTo>
                  <a:lnTo>
                    <a:pt x="70809" y="547530"/>
                  </a:lnTo>
                  <a:lnTo>
                    <a:pt x="99536" y="580167"/>
                  </a:lnTo>
                  <a:lnTo>
                    <a:pt x="132173" y="608894"/>
                  </a:lnTo>
                  <a:lnTo>
                    <a:pt x="168317" y="633306"/>
                  </a:lnTo>
                  <a:lnTo>
                    <a:pt x="207561" y="652998"/>
                  </a:lnTo>
                  <a:lnTo>
                    <a:pt x="249502" y="667564"/>
                  </a:lnTo>
                  <a:lnTo>
                    <a:pt x="293733" y="676601"/>
                  </a:lnTo>
                  <a:lnTo>
                    <a:pt x="339851" y="679704"/>
                  </a:lnTo>
                  <a:lnTo>
                    <a:pt x="385970" y="676601"/>
                  </a:lnTo>
                  <a:lnTo>
                    <a:pt x="430201" y="667564"/>
                  </a:lnTo>
                  <a:lnTo>
                    <a:pt x="472142" y="652998"/>
                  </a:lnTo>
                  <a:lnTo>
                    <a:pt x="511386" y="633306"/>
                  </a:lnTo>
                  <a:lnTo>
                    <a:pt x="547530" y="608894"/>
                  </a:lnTo>
                  <a:lnTo>
                    <a:pt x="580167" y="580167"/>
                  </a:lnTo>
                  <a:lnTo>
                    <a:pt x="608894" y="547530"/>
                  </a:lnTo>
                  <a:lnTo>
                    <a:pt x="633306" y="511386"/>
                  </a:lnTo>
                  <a:lnTo>
                    <a:pt x="652998" y="472142"/>
                  </a:lnTo>
                  <a:lnTo>
                    <a:pt x="667564" y="430201"/>
                  </a:lnTo>
                  <a:lnTo>
                    <a:pt x="676601" y="385970"/>
                  </a:lnTo>
                  <a:lnTo>
                    <a:pt x="679703" y="339851"/>
                  </a:lnTo>
                  <a:lnTo>
                    <a:pt x="676601" y="293733"/>
                  </a:lnTo>
                  <a:lnTo>
                    <a:pt x="667564" y="249502"/>
                  </a:lnTo>
                  <a:lnTo>
                    <a:pt x="652998" y="207561"/>
                  </a:lnTo>
                  <a:lnTo>
                    <a:pt x="633306" y="168317"/>
                  </a:lnTo>
                  <a:lnTo>
                    <a:pt x="608894" y="132173"/>
                  </a:lnTo>
                  <a:lnTo>
                    <a:pt x="580167" y="99536"/>
                  </a:lnTo>
                  <a:lnTo>
                    <a:pt x="547530" y="70809"/>
                  </a:lnTo>
                  <a:lnTo>
                    <a:pt x="511386" y="46397"/>
                  </a:lnTo>
                  <a:lnTo>
                    <a:pt x="472142" y="26705"/>
                  </a:lnTo>
                  <a:lnTo>
                    <a:pt x="430201" y="12139"/>
                  </a:lnTo>
                  <a:lnTo>
                    <a:pt x="385970" y="3102"/>
                  </a:lnTo>
                  <a:lnTo>
                    <a:pt x="339851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61448" y="3800856"/>
              <a:ext cx="307848" cy="307848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864090" y="4498035"/>
            <a:ext cx="3578225" cy="1948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25" b="1">
                <a:solidFill>
                  <a:srgbClr val="3A4E4E"/>
                </a:solidFill>
                <a:latin typeface="Arial"/>
                <a:cs typeface="Arial"/>
              </a:rPr>
              <a:t>Global</a:t>
            </a:r>
            <a:r>
              <a:rPr dirty="0" sz="2200" spc="-11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A4E4E"/>
                </a:solidFill>
                <a:latin typeface="Arial"/>
                <a:cs typeface="Arial"/>
              </a:rPr>
              <a:t>Relevance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100"/>
              </a:lnSpc>
              <a:spcBef>
                <a:spcPts val="80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Our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methodology</a:t>
            </a:r>
            <a:r>
              <a:rPr dirty="0" sz="17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can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be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adapted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globally,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fostering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cleaner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air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initiatives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worldwide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supporting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sustainable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development</a:t>
            </a:r>
            <a:r>
              <a:rPr dirty="0" sz="1750" spc="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goals.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6272" y="2196160"/>
            <a:ext cx="2938780" cy="5676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50" spc="105"/>
              <a:t>Technologies: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3284042"/>
            <a:ext cx="9903460" cy="268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Our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forecasting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model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leverages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robust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tools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languages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process complex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environmental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data.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Languages:</a:t>
            </a:r>
            <a:r>
              <a:rPr dirty="0" sz="1750" spc="-1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Python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(for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data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processing,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model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development)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Frameworks: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TensorFlow/Keras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(for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deep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learning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models),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3A4E4E"/>
                </a:solidFill>
                <a:latin typeface="Tahoma"/>
                <a:cs typeface="Tahoma"/>
              </a:rPr>
              <a:t>Scikit-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learn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(for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traditional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ML)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Data</a:t>
            </a:r>
            <a:r>
              <a:rPr dirty="0" sz="1750" spc="-1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Storage:</a:t>
            </a:r>
            <a:r>
              <a:rPr dirty="0" sz="1750" spc="-1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3A4E4E"/>
                </a:solidFill>
                <a:latin typeface="Tahoma"/>
                <a:cs typeface="Tahoma"/>
              </a:rPr>
              <a:t>SQL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databases,</a:t>
            </a:r>
            <a:r>
              <a:rPr dirty="0" sz="1750" spc="-1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cloud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storage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(e.g.,</a:t>
            </a:r>
            <a:r>
              <a:rPr dirty="0" sz="1750" spc="-1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AWS</a:t>
            </a:r>
            <a:r>
              <a:rPr dirty="0" sz="1750" spc="-9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S3)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80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Visualization: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Matplotlib,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Seaborn,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Tableau/Power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BI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(for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dashboards)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80"/>
              </a:spcBef>
              <a:buChar char="•"/>
              <a:tabLst>
                <a:tab pos="356870" algn="l"/>
              </a:tabLst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Deployment: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Docker,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Kubernetes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(for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scalable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deployment)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291843"/>
            <a:ext cx="7136765" cy="5670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b="1">
                <a:latin typeface="Arial"/>
                <a:cs typeface="Arial"/>
              </a:rPr>
              <a:t>Future</a:t>
            </a:r>
            <a:r>
              <a:rPr dirty="0" sz="3550" spc="-6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Enhancements</a:t>
            </a:r>
            <a:r>
              <a:rPr dirty="0" sz="3550" spc="-65" b="1">
                <a:latin typeface="Arial"/>
                <a:cs typeface="Arial"/>
              </a:rPr>
              <a:t> </a:t>
            </a:r>
            <a:r>
              <a:rPr dirty="0" sz="3550" b="1">
                <a:latin typeface="Arial"/>
                <a:cs typeface="Arial"/>
              </a:rPr>
              <a:t>and</a:t>
            </a:r>
            <a:r>
              <a:rPr dirty="0" sz="3550" spc="-95" b="1">
                <a:latin typeface="Arial"/>
                <a:cs typeface="Arial"/>
              </a:rPr>
              <a:t> </a:t>
            </a:r>
            <a:r>
              <a:rPr dirty="0" sz="3550" spc="-10" b="1">
                <a:latin typeface="Arial"/>
                <a:cs typeface="Arial"/>
              </a:rPr>
              <a:t>Vision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4807458"/>
            <a:ext cx="5633720" cy="1983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Individuals</a:t>
            </a:r>
            <a:r>
              <a:rPr dirty="0" sz="17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plan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outdoor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activities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safely.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Local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authorities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issue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health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advisories.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35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Policymakers</a:t>
            </a:r>
            <a:r>
              <a:rPr dirty="0" sz="1750" spc="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implement</a:t>
            </a:r>
            <a:r>
              <a:rPr dirty="0" sz="1750" spc="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targeted</a:t>
            </a:r>
            <a:r>
              <a:rPr dirty="0" sz="175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r>
              <a:rPr dirty="0" sz="175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control</a:t>
            </a:r>
            <a:endParaRPr sz="175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850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measures.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40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Researchers</a:t>
            </a:r>
            <a:r>
              <a:rPr dirty="0" sz="175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understand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r>
              <a:rPr dirty="0" sz="175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patterns</a:t>
            </a:r>
            <a:r>
              <a:rPr dirty="0" sz="1750" spc="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better.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1304" y="2379725"/>
            <a:ext cx="11397615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Our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project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lays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strong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foundation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future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advancements,</a:t>
            </a:r>
            <a:r>
              <a:rPr dirty="0" sz="1750" spc="-1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aiming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even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greater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accuracy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broader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impact.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819265" algn="l"/>
              </a:tabLst>
            </a:pPr>
            <a:r>
              <a:rPr dirty="0" sz="2650" spc="-20" b="1">
                <a:solidFill>
                  <a:srgbClr val="223939"/>
                </a:solidFill>
                <a:latin typeface="Arial"/>
                <a:cs typeface="Arial"/>
              </a:rPr>
              <a:t>How</a:t>
            </a:r>
            <a:r>
              <a:rPr dirty="0" sz="2650" spc="-130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223939"/>
                </a:solidFill>
                <a:latin typeface="Arial"/>
                <a:cs typeface="Arial"/>
              </a:rPr>
              <a:t>is</a:t>
            </a:r>
            <a:r>
              <a:rPr dirty="0" sz="2650" spc="-35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223939"/>
                </a:solidFill>
                <a:latin typeface="Arial"/>
                <a:cs typeface="Arial"/>
              </a:rPr>
              <a:t>it</a:t>
            </a:r>
            <a:r>
              <a:rPr dirty="0" sz="2650" spc="-15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223939"/>
                </a:solidFill>
                <a:latin typeface="Arial"/>
                <a:cs typeface="Arial"/>
              </a:rPr>
              <a:t>Solving?</a:t>
            </a:r>
            <a:r>
              <a:rPr dirty="0" sz="2650" b="1">
                <a:solidFill>
                  <a:srgbClr val="223939"/>
                </a:solidFill>
                <a:latin typeface="Arial"/>
                <a:cs typeface="Arial"/>
              </a:rPr>
              <a:t>	Future</a:t>
            </a:r>
            <a:r>
              <a:rPr dirty="0" sz="2650" spc="-25" b="1">
                <a:solidFill>
                  <a:srgbClr val="223939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223939"/>
                </a:solidFill>
                <a:latin typeface="Arial"/>
                <a:cs typeface="Arial"/>
              </a:rPr>
              <a:t>Enhancements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1304" y="3762541"/>
            <a:ext cx="6925945" cy="77660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6819265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Our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model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provides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timely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accurate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forecasts,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	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•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allowing: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88377" y="3762541"/>
            <a:ext cx="6165850" cy="282384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9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Integration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with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real-time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traffic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weather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data</a:t>
            </a:r>
            <a:r>
              <a:rPr dirty="0" sz="17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endParaRPr sz="175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85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enhanced</a:t>
            </a:r>
            <a:r>
              <a:rPr dirty="0" sz="1750" spc="-1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accuracy.</a:t>
            </a:r>
            <a:endParaRPr sz="1750">
              <a:latin typeface="Tahoma"/>
              <a:cs typeface="Tahoma"/>
            </a:endParaRPr>
          </a:p>
          <a:p>
            <a:pPr marL="356870" marR="5080" indent="-344805">
              <a:lnSpc>
                <a:spcPct val="140600"/>
              </a:lnSpc>
              <a:spcBef>
                <a:spcPts val="434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Development</a:t>
            </a:r>
            <a:r>
              <a:rPr dirty="0" sz="17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hyper-local</a:t>
            </a:r>
            <a:r>
              <a:rPr dirty="0" sz="175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forecasting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models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for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specific neighborhoods.</a:t>
            </a:r>
            <a:endParaRPr sz="1750">
              <a:latin typeface="Tahoma"/>
              <a:cs typeface="Tahoma"/>
            </a:endParaRPr>
          </a:p>
          <a:p>
            <a:pPr marL="356870" marR="732790" indent="-344805">
              <a:lnSpc>
                <a:spcPct val="140700"/>
              </a:lnSpc>
              <a:spcBef>
                <a:spcPts val="434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Expansion</a:t>
            </a:r>
            <a:r>
              <a:rPr dirty="0" sz="17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to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include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more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pollutant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types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their interactions.</a:t>
            </a:r>
            <a:endParaRPr sz="175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1335"/>
              </a:spcBef>
              <a:buChar char="•"/>
              <a:tabLst>
                <a:tab pos="356870" algn="l"/>
              </a:tabLst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Creation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of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interactive,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user-friendly</a:t>
            </a:r>
            <a:r>
              <a:rPr dirty="0" sz="1750" spc="-8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mobile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application.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053" rIns="0" bIns="0" rtlCol="0" vert="horz">
            <a:spAutoFit/>
          </a:bodyPr>
          <a:lstStyle/>
          <a:p>
            <a:pPr marL="260985">
              <a:lnSpc>
                <a:spcPct val="100000"/>
              </a:lnSpc>
              <a:spcBef>
                <a:spcPts val="105"/>
              </a:spcBef>
            </a:pPr>
            <a:r>
              <a:rPr dirty="0" sz="4100"/>
              <a:t>K</a:t>
            </a:r>
            <a:r>
              <a:rPr dirty="0" sz="4100" spc="-509"/>
              <a:t> </a:t>
            </a:r>
            <a:r>
              <a:rPr dirty="0" sz="4100" spc="60"/>
              <a:t>ey</a:t>
            </a:r>
            <a:r>
              <a:rPr dirty="0" sz="4100" spc="295"/>
              <a:t> </a:t>
            </a:r>
            <a:r>
              <a:rPr dirty="0" sz="4100" spc="195"/>
              <a:t>Project</a:t>
            </a:r>
            <a:r>
              <a:rPr dirty="0" sz="4100"/>
              <a:t> </a:t>
            </a:r>
            <a:r>
              <a:rPr dirty="0" sz="4100" spc="50"/>
              <a:t>Outc</a:t>
            </a:r>
            <a:r>
              <a:rPr dirty="0" sz="4100" spc="-775"/>
              <a:t> </a:t>
            </a:r>
            <a:r>
              <a:rPr dirty="0" sz="4100" spc="50"/>
              <a:t>omes</a:t>
            </a:r>
            <a:endParaRPr sz="4100"/>
          </a:p>
        </p:txBody>
      </p:sp>
      <p:grpSp>
        <p:nvGrpSpPr>
          <p:cNvPr id="3" name="object 3" descr=""/>
          <p:cNvGrpSpPr/>
          <p:nvPr/>
        </p:nvGrpSpPr>
        <p:grpSpPr>
          <a:xfrm>
            <a:off x="731519" y="1652016"/>
            <a:ext cx="485140" cy="481965"/>
            <a:chOff x="731519" y="1652016"/>
            <a:chExt cx="485140" cy="481965"/>
          </a:xfrm>
        </p:grpSpPr>
        <p:sp>
          <p:nvSpPr>
            <p:cNvPr id="4" name="object 4" descr=""/>
            <p:cNvSpPr/>
            <p:nvPr/>
          </p:nvSpPr>
          <p:spPr>
            <a:xfrm>
              <a:off x="736091" y="1656588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39">
                  <a:moveTo>
                    <a:pt x="387286" y="0"/>
                  </a:moveTo>
                  <a:lnTo>
                    <a:pt x="88201" y="0"/>
                  </a:lnTo>
                  <a:lnTo>
                    <a:pt x="53867" y="6933"/>
                  </a:lnTo>
                  <a:lnTo>
                    <a:pt x="25831" y="25844"/>
                  </a:lnTo>
                  <a:lnTo>
                    <a:pt x="6930" y="53899"/>
                  </a:lnTo>
                  <a:lnTo>
                    <a:pt x="0" y="88264"/>
                  </a:lnTo>
                  <a:lnTo>
                    <a:pt x="0" y="384174"/>
                  </a:lnTo>
                  <a:lnTo>
                    <a:pt x="6930" y="418540"/>
                  </a:lnTo>
                  <a:lnTo>
                    <a:pt x="25831" y="446595"/>
                  </a:lnTo>
                  <a:lnTo>
                    <a:pt x="53867" y="465506"/>
                  </a:lnTo>
                  <a:lnTo>
                    <a:pt x="88201" y="472439"/>
                  </a:lnTo>
                  <a:lnTo>
                    <a:pt x="387286" y="472439"/>
                  </a:lnTo>
                  <a:lnTo>
                    <a:pt x="421620" y="465506"/>
                  </a:lnTo>
                  <a:lnTo>
                    <a:pt x="449656" y="446595"/>
                  </a:lnTo>
                  <a:lnTo>
                    <a:pt x="468557" y="418540"/>
                  </a:lnTo>
                  <a:lnTo>
                    <a:pt x="475488" y="384174"/>
                  </a:lnTo>
                  <a:lnTo>
                    <a:pt x="475488" y="88264"/>
                  </a:lnTo>
                  <a:lnTo>
                    <a:pt x="468557" y="53899"/>
                  </a:lnTo>
                  <a:lnTo>
                    <a:pt x="449656" y="25844"/>
                  </a:lnTo>
                  <a:lnTo>
                    <a:pt x="421620" y="6933"/>
                  </a:lnTo>
                  <a:lnTo>
                    <a:pt x="387286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6091" y="1656588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39">
                  <a:moveTo>
                    <a:pt x="0" y="88264"/>
                  </a:moveTo>
                  <a:lnTo>
                    <a:pt x="6930" y="53899"/>
                  </a:lnTo>
                  <a:lnTo>
                    <a:pt x="25831" y="25844"/>
                  </a:lnTo>
                  <a:lnTo>
                    <a:pt x="53867" y="6933"/>
                  </a:lnTo>
                  <a:lnTo>
                    <a:pt x="88201" y="0"/>
                  </a:lnTo>
                  <a:lnTo>
                    <a:pt x="387286" y="0"/>
                  </a:lnTo>
                  <a:lnTo>
                    <a:pt x="421620" y="6933"/>
                  </a:lnTo>
                  <a:lnTo>
                    <a:pt x="449656" y="25844"/>
                  </a:lnTo>
                  <a:lnTo>
                    <a:pt x="468557" y="53899"/>
                  </a:lnTo>
                  <a:lnTo>
                    <a:pt x="475488" y="88264"/>
                  </a:lnTo>
                  <a:lnTo>
                    <a:pt x="475488" y="384174"/>
                  </a:lnTo>
                  <a:lnTo>
                    <a:pt x="468557" y="418540"/>
                  </a:lnTo>
                  <a:lnTo>
                    <a:pt x="449656" y="446595"/>
                  </a:lnTo>
                  <a:lnTo>
                    <a:pt x="421620" y="465506"/>
                  </a:lnTo>
                  <a:lnTo>
                    <a:pt x="387286" y="472439"/>
                  </a:lnTo>
                  <a:lnTo>
                    <a:pt x="88201" y="472439"/>
                  </a:lnTo>
                  <a:lnTo>
                    <a:pt x="53867" y="465506"/>
                  </a:lnTo>
                  <a:lnTo>
                    <a:pt x="25831" y="446595"/>
                  </a:lnTo>
                  <a:lnTo>
                    <a:pt x="6930" y="418540"/>
                  </a:lnTo>
                  <a:lnTo>
                    <a:pt x="0" y="384174"/>
                  </a:lnTo>
                  <a:lnTo>
                    <a:pt x="0" y="88264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78839" y="1609420"/>
            <a:ext cx="14414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1</a:t>
            </a:r>
            <a:endParaRPr sz="2450">
              <a:latin typeface="Malgun Gothic Semilight"/>
              <a:cs typeface="Malgun Gothic Semi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06778" y="1703959"/>
            <a:ext cx="5236845" cy="775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55">
                <a:solidFill>
                  <a:srgbClr val="3A4E4E"/>
                </a:solidFill>
                <a:latin typeface="Malgun Gothic Semilight"/>
                <a:cs typeface="Malgun Gothic Semilight"/>
              </a:rPr>
              <a:t>Forecas</a:t>
            </a:r>
            <a:r>
              <a:rPr dirty="0" sz="2050" spc="-29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ting</a:t>
            </a:r>
            <a:r>
              <a:rPr dirty="0" sz="2050" spc="-7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 spc="-20">
                <a:solidFill>
                  <a:srgbClr val="3A4E4E"/>
                </a:solidFill>
                <a:latin typeface="Malgun Gothic Semilight"/>
                <a:cs typeface="Malgun Gothic Semilight"/>
              </a:rPr>
              <a:t>Model</a:t>
            </a:r>
            <a:endParaRPr sz="20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Predict</a:t>
            </a:r>
            <a:r>
              <a:rPr dirty="0" sz="16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AQI</a:t>
            </a:r>
            <a:r>
              <a:rPr dirty="0" sz="16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key</a:t>
            </a:r>
            <a:r>
              <a:rPr dirty="0" sz="16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pollutants</a:t>
            </a:r>
            <a:r>
              <a:rPr dirty="0" sz="1650" spc="-1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(PM2.5,</a:t>
            </a:r>
            <a:r>
              <a:rPr dirty="0" sz="16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3A4E4E"/>
                </a:solidFill>
                <a:latin typeface="Tahoma"/>
                <a:cs typeface="Tahoma"/>
              </a:rPr>
              <a:t>PM10,</a:t>
            </a:r>
            <a:r>
              <a:rPr dirty="0" sz="16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NO2,</a:t>
            </a:r>
            <a:r>
              <a:rPr dirty="0" sz="16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etc.).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31519" y="2935223"/>
            <a:ext cx="485140" cy="485140"/>
            <a:chOff x="731519" y="2935223"/>
            <a:chExt cx="485140" cy="485140"/>
          </a:xfrm>
        </p:grpSpPr>
        <p:sp>
          <p:nvSpPr>
            <p:cNvPr id="9" name="object 9" descr=""/>
            <p:cNvSpPr/>
            <p:nvPr/>
          </p:nvSpPr>
          <p:spPr>
            <a:xfrm>
              <a:off x="736091" y="29397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386714" y="0"/>
                  </a:moveTo>
                  <a:lnTo>
                    <a:pt x="88773" y="0"/>
                  </a:lnTo>
                  <a:lnTo>
                    <a:pt x="54221" y="6977"/>
                  </a:lnTo>
                  <a:lnTo>
                    <a:pt x="26003" y="26003"/>
                  </a:lnTo>
                  <a:lnTo>
                    <a:pt x="6977" y="54221"/>
                  </a:lnTo>
                  <a:lnTo>
                    <a:pt x="0" y="88773"/>
                  </a:lnTo>
                  <a:lnTo>
                    <a:pt x="0" y="386714"/>
                  </a:lnTo>
                  <a:lnTo>
                    <a:pt x="6977" y="421266"/>
                  </a:lnTo>
                  <a:lnTo>
                    <a:pt x="26003" y="449484"/>
                  </a:lnTo>
                  <a:lnTo>
                    <a:pt x="54221" y="468510"/>
                  </a:lnTo>
                  <a:lnTo>
                    <a:pt x="88773" y="475488"/>
                  </a:lnTo>
                  <a:lnTo>
                    <a:pt x="386714" y="475488"/>
                  </a:lnTo>
                  <a:lnTo>
                    <a:pt x="421266" y="468510"/>
                  </a:lnTo>
                  <a:lnTo>
                    <a:pt x="449484" y="449484"/>
                  </a:lnTo>
                  <a:lnTo>
                    <a:pt x="468510" y="421266"/>
                  </a:lnTo>
                  <a:lnTo>
                    <a:pt x="475488" y="386714"/>
                  </a:lnTo>
                  <a:lnTo>
                    <a:pt x="475488" y="88773"/>
                  </a:lnTo>
                  <a:lnTo>
                    <a:pt x="468510" y="54221"/>
                  </a:lnTo>
                  <a:lnTo>
                    <a:pt x="449484" y="26003"/>
                  </a:lnTo>
                  <a:lnTo>
                    <a:pt x="421266" y="6977"/>
                  </a:lnTo>
                  <a:lnTo>
                    <a:pt x="386714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36091" y="29397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88773"/>
                  </a:moveTo>
                  <a:lnTo>
                    <a:pt x="6977" y="54221"/>
                  </a:lnTo>
                  <a:lnTo>
                    <a:pt x="26003" y="26003"/>
                  </a:lnTo>
                  <a:lnTo>
                    <a:pt x="54221" y="6977"/>
                  </a:lnTo>
                  <a:lnTo>
                    <a:pt x="88773" y="0"/>
                  </a:lnTo>
                  <a:lnTo>
                    <a:pt x="386714" y="0"/>
                  </a:lnTo>
                  <a:lnTo>
                    <a:pt x="421266" y="6977"/>
                  </a:lnTo>
                  <a:lnTo>
                    <a:pt x="449484" y="26003"/>
                  </a:lnTo>
                  <a:lnTo>
                    <a:pt x="468510" y="54221"/>
                  </a:lnTo>
                  <a:lnTo>
                    <a:pt x="475488" y="88773"/>
                  </a:lnTo>
                  <a:lnTo>
                    <a:pt x="475488" y="386714"/>
                  </a:lnTo>
                  <a:lnTo>
                    <a:pt x="468510" y="421266"/>
                  </a:lnTo>
                  <a:lnTo>
                    <a:pt x="449484" y="449484"/>
                  </a:lnTo>
                  <a:lnTo>
                    <a:pt x="421266" y="468510"/>
                  </a:lnTo>
                  <a:lnTo>
                    <a:pt x="386714" y="475488"/>
                  </a:lnTo>
                  <a:lnTo>
                    <a:pt x="88773" y="475488"/>
                  </a:lnTo>
                  <a:lnTo>
                    <a:pt x="54221" y="468510"/>
                  </a:lnTo>
                  <a:lnTo>
                    <a:pt x="26003" y="449484"/>
                  </a:lnTo>
                  <a:lnTo>
                    <a:pt x="6977" y="421266"/>
                  </a:lnTo>
                  <a:lnTo>
                    <a:pt x="0" y="386714"/>
                  </a:lnTo>
                  <a:lnTo>
                    <a:pt x="0" y="88773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72744" y="2894202"/>
            <a:ext cx="1930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2</a:t>
            </a:r>
            <a:endParaRPr sz="2450">
              <a:latin typeface="Malgun Gothic Semilight"/>
              <a:cs typeface="Malgun Gothic Semiligh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06778" y="2988055"/>
            <a:ext cx="5219065" cy="775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Vis</a:t>
            </a:r>
            <a:r>
              <a:rPr dirty="0" sz="2050" spc="-2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ual</a:t>
            </a:r>
            <a:r>
              <a:rPr dirty="0" sz="2050" spc="1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Das</a:t>
            </a:r>
            <a:r>
              <a:rPr dirty="0" sz="2050" spc="-30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hboard</a:t>
            </a:r>
            <a:endParaRPr sz="20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Show</a:t>
            </a:r>
            <a:r>
              <a:rPr dirty="0" sz="16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historical</a:t>
            </a:r>
            <a:r>
              <a:rPr dirty="0" sz="16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trends</a:t>
            </a:r>
            <a:r>
              <a:rPr dirty="0" sz="1650" spc="-9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future</a:t>
            </a:r>
            <a:r>
              <a:rPr dirty="0" sz="16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air</a:t>
            </a:r>
            <a:r>
              <a:rPr dirty="0" sz="16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quality</a:t>
            </a:r>
            <a:r>
              <a:rPr dirty="0" sz="16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predictions.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31519" y="4221479"/>
            <a:ext cx="485140" cy="481965"/>
            <a:chOff x="731519" y="4221479"/>
            <a:chExt cx="485140" cy="481965"/>
          </a:xfrm>
        </p:grpSpPr>
        <p:sp>
          <p:nvSpPr>
            <p:cNvPr id="14" name="object 14" descr=""/>
            <p:cNvSpPr/>
            <p:nvPr/>
          </p:nvSpPr>
          <p:spPr>
            <a:xfrm>
              <a:off x="736091" y="4226051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39">
                  <a:moveTo>
                    <a:pt x="387286" y="0"/>
                  </a:moveTo>
                  <a:lnTo>
                    <a:pt x="88201" y="0"/>
                  </a:lnTo>
                  <a:lnTo>
                    <a:pt x="53867" y="6933"/>
                  </a:lnTo>
                  <a:lnTo>
                    <a:pt x="25831" y="25844"/>
                  </a:lnTo>
                  <a:lnTo>
                    <a:pt x="6930" y="53899"/>
                  </a:lnTo>
                  <a:lnTo>
                    <a:pt x="0" y="88264"/>
                  </a:lnTo>
                  <a:lnTo>
                    <a:pt x="0" y="384175"/>
                  </a:lnTo>
                  <a:lnTo>
                    <a:pt x="6930" y="418540"/>
                  </a:lnTo>
                  <a:lnTo>
                    <a:pt x="25831" y="446595"/>
                  </a:lnTo>
                  <a:lnTo>
                    <a:pt x="53867" y="465506"/>
                  </a:lnTo>
                  <a:lnTo>
                    <a:pt x="88201" y="472439"/>
                  </a:lnTo>
                  <a:lnTo>
                    <a:pt x="387286" y="472439"/>
                  </a:lnTo>
                  <a:lnTo>
                    <a:pt x="421620" y="465506"/>
                  </a:lnTo>
                  <a:lnTo>
                    <a:pt x="449656" y="446595"/>
                  </a:lnTo>
                  <a:lnTo>
                    <a:pt x="468557" y="418540"/>
                  </a:lnTo>
                  <a:lnTo>
                    <a:pt x="475488" y="384175"/>
                  </a:lnTo>
                  <a:lnTo>
                    <a:pt x="475488" y="88264"/>
                  </a:lnTo>
                  <a:lnTo>
                    <a:pt x="468557" y="53899"/>
                  </a:lnTo>
                  <a:lnTo>
                    <a:pt x="449656" y="25844"/>
                  </a:lnTo>
                  <a:lnTo>
                    <a:pt x="421620" y="6933"/>
                  </a:lnTo>
                  <a:lnTo>
                    <a:pt x="387286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6091" y="4226051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39">
                  <a:moveTo>
                    <a:pt x="0" y="88264"/>
                  </a:moveTo>
                  <a:lnTo>
                    <a:pt x="6930" y="53899"/>
                  </a:lnTo>
                  <a:lnTo>
                    <a:pt x="25831" y="25844"/>
                  </a:lnTo>
                  <a:lnTo>
                    <a:pt x="53867" y="6933"/>
                  </a:lnTo>
                  <a:lnTo>
                    <a:pt x="88201" y="0"/>
                  </a:lnTo>
                  <a:lnTo>
                    <a:pt x="387286" y="0"/>
                  </a:lnTo>
                  <a:lnTo>
                    <a:pt x="421620" y="6933"/>
                  </a:lnTo>
                  <a:lnTo>
                    <a:pt x="449656" y="25844"/>
                  </a:lnTo>
                  <a:lnTo>
                    <a:pt x="468557" y="53899"/>
                  </a:lnTo>
                  <a:lnTo>
                    <a:pt x="475488" y="88264"/>
                  </a:lnTo>
                  <a:lnTo>
                    <a:pt x="475488" y="384175"/>
                  </a:lnTo>
                  <a:lnTo>
                    <a:pt x="468557" y="418540"/>
                  </a:lnTo>
                  <a:lnTo>
                    <a:pt x="449656" y="446595"/>
                  </a:lnTo>
                  <a:lnTo>
                    <a:pt x="421620" y="465506"/>
                  </a:lnTo>
                  <a:lnTo>
                    <a:pt x="387286" y="472439"/>
                  </a:lnTo>
                  <a:lnTo>
                    <a:pt x="88201" y="472439"/>
                  </a:lnTo>
                  <a:lnTo>
                    <a:pt x="53867" y="465506"/>
                  </a:lnTo>
                  <a:lnTo>
                    <a:pt x="25831" y="446595"/>
                  </a:lnTo>
                  <a:lnTo>
                    <a:pt x="6930" y="418540"/>
                  </a:lnTo>
                  <a:lnTo>
                    <a:pt x="0" y="384175"/>
                  </a:lnTo>
                  <a:lnTo>
                    <a:pt x="0" y="88264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72744" y="4178553"/>
            <a:ext cx="1930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3</a:t>
            </a:r>
            <a:endParaRPr sz="2450">
              <a:latin typeface="Malgun Gothic Semilight"/>
              <a:cs typeface="Malgun Gothic Semi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06778" y="4272534"/>
            <a:ext cx="4926330" cy="775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Alerts</a:t>
            </a:r>
            <a:r>
              <a:rPr dirty="0" sz="2050" spc="34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&amp;</a:t>
            </a:r>
            <a:r>
              <a:rPr dirty="0" sz="2050" spc="5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Warnings</a:t>
            </a:r>
            <a:endParaRPr sz="20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Notify</a:t>
            </a:r>
            <a:r>
              <a:rPr dirty="0" sz="165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3A4E4E"/>
                </a:solidFill>
                <a:latin typeface="Tahoma"/>
                <a:cs typeface="Tahoma"/>
              </a:rPr>
              <a:t>when</a:t>
            </a:r>
            <a:r>
              <a:rPr dirty="0" sz="16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predicted</a:t>
            </a:r>
            <a:r>
              <a:rPr dirty="0" sz="16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AQI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crosses</a:t>
            </a:r>
            <a:r>
              <a:rPr dirty="0" sz="16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safety</a:t>
            </a:r>
            <a:r>
              <a:rPr dirty="0" sz="165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thresholds.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31519" y="5504688"/>
            <a:ext cx="485140" cy="481965"/>
            <a:chOff x="731519" y="5504688"/>
            <a:chExt cx="485140" cy="481965"/>
          </a:xfrm>
        </p:grpSpPr>
        <p:sp>
          <p:nvSpPr>
            <p:cNvPr id="19" name="object 19" descr=""/>
            <p:cNvSpPr/>
            <p:nvPr/>
          </p:nvSpPr>
          <p:spPr>
            <a:xfrm>
              <a:off x="736091" y="5509260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39">
                  <a:moveTo>
                    <a:pt x="387286" y="0"/>
                  </a:moveTo>
                  <a:lnTo>
                    <a:pt x="88201" y="0"/>
                  </a:lnTo>
                  <a:lnTo>
                    <a:pt x="53867" y="6933"/>
                  </a:lnTo>
                  <a:lnTo>
                    <a:pt x="25831" y="25844"/>
                  </a:lnTo>
                  <a:lnTo>
                    <a:pt x="6930" y="53899"/>
                  </a:lnTo>
                  <a:lnTo>
                    <a:pt x="0" y="88264"/>
                  </a:lnTo>
                  <a:lnTo>
                    <a:pt x="0" y="384175"/>
                  </a:lnTo>
                  <a:lnTo>
                    <a:pt x="6930" y="418540"/>
                  </a:lnTo>
                  <a:lnTo>
                    <a:pt x="25831" y="446595"/>
                  </a:lnTo>
                  <a:lnTo>
                    <a:pt x="53867" y="465506"/>
                  </a:lnTo>
                  <a:lnTo>
                    <a:pt x="88201" y="472439"/>
                  </a:lnTo>
                  <a:lnTo>
                    <a:pt x="387286" y="472439"/>
                  </a:lnTo>
                  <a:lnTo>
                    <a:pt x="421620" y="465506"/>
                  </a:lnTo>
                  <a:lnTo>
                    <a:pt x="449656" y="446595"/>
                  </a:lnTo>
                  <a:lnTo>
                    <a:pt x="468557" y="418540"/>
                  </a:lnTo>
                  <a:lnTo>
                    <a:pt x="475488" y="384175"/>
                  </a:lnTo>
                  <a:lnTo>
                    <a:pt x="475488" y="88264"/>
                  </a:lnTo>
                  <a:lnTo>
                    <a:pt x="468557" y="53899"/>
                  </a:lnTo>
                  <a:lnTo>
                    <a:pt x="449656" y="25844"/>
                  </a:lnTo>
                  <a:lnTo>
                    <a:pt x="421620" y="6933"/>
                  </a:lnTo>
                  <a:lnTo>
                    <a:pt x="387286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36091" y="5509260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39">
                  <a:moveTo>
                    <a:pt x="0" y="88264"/>
                  </a:moveTo>
                  <a:lnTo>
                    <a:pt x="6930" y="53899"/>
                  </a:lnTo>
                  <a:lnTo>
                    <a:pt x="25831" y="25844"/>
                  </a:lnTo>
                  <a:lnTo>
                    <a:pt x="53867" y="6933"/>
                  </a:lnTo>
                  <a:lnTo>
                    <a:pt x="88201" y="0"/>
                  </a:lnTo>
                  <a:lnTo>
                    <a:pt x="387286" y="0"/>
                  </a:lnTo>
                  <a:lnTo>
                    <a:pt x="421620" y="6933"/>
                  </a:lnTo>
                  <a:lnTo>
                    <a:pt x="449656" y="25844"/>
                  </a:lnTo>
                  <a:lnTo>
                    <a:pt x="468557" y="53899"/>
                  </a:lnTo>
                  <a:lnTo>
                    <a:pt x="475488" y="88264"/>
                  </a:lnTo>
                  <a:lnTo>
                    <a:pt x="475488" y="384175"/>
                  </a:lnTo>
                  <a:lnTo>
                    <a:pt x="468557" y="418540"/>
                  </a:lnTo>
                  <a:lnTo>
                    <a:pt x="449656" y="446595"/>
                  </a:lnTo>
                  <a:lnTo>
                    <a:pt x="421620" y="465506"/>
                  </a:lnTo>
                  <a:lnTo>
                    <a:pt x="387286" y="472439"/>
                  </a:lnTo>
                  <a:lnTo>
                    <a:pt x="88201" y="472439"/>
                  </a:lnTo>
                  <a:lnTo>
                    <a:pt x="53867" y="465506"/>
                  </a:lnTo>
                  <a:lnTo>
                    <a:pt x="25831" y="446595"/>
                  </a:lnTo>
                  <a:lnTo>
                    <a:pt x="6930" y="418540"/>
                  </a:lnTo>
                  <a:lnTo>
                    <a:pt x="0" y="384175"/>
                  </a:lnTo>
                  <a:lnTo>
                    <a:pt x="0" y="88264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69696" y="5462473"/>
            <a:ext cx="19939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4</a:t>
            </a:r>
            <a:endParaRPr sz="2450">
              <a:latin typeface="Malgun Gothic Semilight"/>
              <a:cs typeface="Malgun Gothic Semiligh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06778" y="5556325"/>
            <a:ext cx="5090795" cy="775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Trend</a:t>
            </a:r>
            <a:r>
              <a:rPr dirty="0" sz="2050" spc="-9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 spc="45">
                <a:solidFill>
                  <a:srgbClr val="3A4E4E"/>
                </a:solidFill>
                <a:latin typeface="Malgun Gothic Semilight"/>
                <a:cs typeface="Malgun Gothic Semilight"/>
              </a:rPr>
              <a:t>Analysis</a:t>
            </a:r>
            <a:endParaRPr sz="20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650" spc="10">
                <a:solidFill>
                  <a:srgbClr val="3A4E4E"/>
                </a:solidFill>
                <a:latin typeface="Tahoma"/>
                <a:cs typeface="Tahoma"/>
              </a:rPr>
              <a:t>Analyze</a:t>
            </a:r>
            <a:r>
              <a:rPr dirty="0" sz="16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3A4E4E"/>
                </a:solidFill>
                <a:latin typeface="Tahoma"/>
                <a:cs typeface="Tahoma"/>
              </a:rPr>
              <a:t>pollutant</a:t>
            </a:r>
            <a:r>
              <a:rPr dirty="0" sz="16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3A4E4E"/>
                </a:solidFill>
                <a:latin typeface="Tahoma"/>
                <a:cs typeface="Tahoma"/>
              </a:rPr>
              <a:t>contributions</a:t>
            </a:r>
            <a:r>
              <a:rPr dirty="0" sz="16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3A4E4E"/>
                </a:solidFill>
                <a:latin typeface="Tahoma"/>
                <a:cs typeface="Tahoma"/>
              </a:rPr>
              <a:t>seasonal</a:t>
            </a:r>
            <a:r>
              <a:rPr dirty="0" sz="1650" spc="-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patterns.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31519" y="6787895"/>
            <a:ext cx="485140" cy="481965"/>
            <a:chOff x="731519" y="6787895"/>
            <a:chExt cx="485140" cy="481965"/>
          </a:xfrm>
        </p:grpSpPr>
        <p:sp>
          <p:nvSpPr>
            <p:cNvPr id="24" name="object 24" descr=""/>
            <p:cNvSpPr/>
            <p:nvPr/>
          </p:nvSpPr>
          <p:spPr>
            <a:xfrm>
              <a:off x="736091" y="6792467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40">
                  <a:moveTo>
                    <a:pt x="387286" y="0"/>
                  </a:moveTo>
                  <a:lnTo>
                    <a:pt x="88201" y="0"/>
                  </a:lnTo>
                  <a:lnTo>
                    <a:pt x="53867" y="6933"/>
                  </a:lnTo>
                  <a:lnTo>
                    <a:pt x="25831" y="25844"/>
                  </a:lnTo>
                  <a:lnTo>
                    <a:pt x="6930" y="53899"/>
                  </a:lnTo>
                  <a:lnTo>
                    <a:pt x="0" y="88264"/>
                  </a:lnTo>
                  <a:lnTo>
                    <a:pt x="0" y="384238"/>
                  </a:lnTo>
                  <a:lnTo>
                    <a:pt x="6930" y="418567"/>
                  </a:lnTo>
                  <a:lnTo>
                    <a:pt x="25831" y="446603"/>
                  </a:lnTo>
                  <a:lnTo>
                    <a:pt x="53867" y="465507"/>
                  </a:lnTo>
                  <a:lnTo>
                    <a:pt x="88201" y="472439"/>
                  </a:lnTo>
                  <a:lnTo>
                    <a:pt x="387286" y="472439"/>
                  </a:lnTo>
                  <a:lnTo>
                    <a:pt x="421620" y="465507"/>
                  </a:lnTo>
                  <a:lnTo>
                    <a:pt x="449656" y="446603"/>
                  </a:lnTo>
                  <a:lnTo>
                    <a:pt x="468557" y="418567"/>
                  </a:lnTo>
                  <a:lnTo>
                    <a:pt x="475488" y="384238"/>
                  </a:lnTo>
                  <a:lnTo>
                    <a:pt x="475488" y="88264"/>
                  </a:lnTo>
                  <a:lnTo>
                    <a:pt x="468557" y="53899"/>
                  </a:lnTo>
                  <a:lnTo>
                    <a:pt x="449656" y="25844"/>
                  </a:lnTo>
                  <a:lnTo>
                    <a:pt x="421620" y="6933"/>
                  </a:lnTo>
                  <a:lnTo>
                    <a:pt x="387286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6091" y="6792467"/>
              <a:ext cx="475615" cy="472440"/>
            </a:xfrm>
            <a:custGeom>
              <a:avLst/>
              <a:gdLst/>
              <a:ahLst/>
              <a:cxnLst/>
              <a:rect l="l" t="t" r="r" b="b"/>
              <a:pathLst>
                <a:path w="475615" h="472440">
                  <a:moveTo>
                    <a:pt x="0" y="88264"/>
                  </a:moveTo>
                  <a:lnTo>
                    <a:pt x="6930" y="53899"/>
                  </a:lnTo>
                  <a:lnTo>
                    <a:pt x="25831" y="25844"/>
                  </a:lnTo>
                  <a:lnTo>
                    <a:pt x="53867" y="6933"/>
                  </a:lnTo>
                  <a:lnTo>
                    <a:pt x="88201" y="0"/>
                  </a:lnTo>
                  <a:lnTo>
                    <a:pt x="387286" y="0"/>
                  </a:lnTo>
                  <a:lnTo>
                    <a:pt x="421620" y="6933"/>
                  </a:lnTo>
                  <a:lnTo>
                    <a:pt x="449656" y="25844"/>
                  </a:lnTo>
                  <a:lnTo>
                    <a:pt x="468557" y="53899"/>
                  </a:lnTo>
                  <a:lnTo>
                    <a:pt x="475488" y="88264"/>
                  </a:lnTo>
                  <a:lnTo>
                    <a:pt x="475488" y="384238"/>
                  </a:lnTo>
                  <a:lnTo>
                    <a:pt x="468557" y="418567"/>
                  </a:lnTo>
                  <a:lnTo>
                    <a:pt x="449656" y="446603"/>
                  </a:lnTo>
                  <a:lnTo>
                    <a:pt x="421620" y="465507"/>
                  </a:lnTo>
                  <a:lnTo>
                    <a:pt x="387286" y="472439"/>
                  </a:lnTo>
                  <a:lnTo>
                    <a:pt x="88201" y="472439"/>
                  </a:lnTo>
                  <a:lnTo>
                    <a:pt x="53867" y="465507"/>
                  </a:lnTo>
                  <a:lnTo>
                    <a:pt x="25831" y="446603"/>
                  </a:lnTo>
                  <a:lnTo>
                    <a:pt x="6930" y="418567"/>
                  </a:lnTo>
                  <a:lnTo>
                    <a:pt x="0" y="384238"/>
                  </a:lnTo>
                  <a:lnTo>
                    <a:pt x="0" y="88264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872744" y="6747154"/>
            <a:ext cx="1930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5</a:t>
            </a:r>
            <a:endParaRPr sz="2450">
              <a:latin typeface="Malgun Gothic Semilight"/>
              <a:cs typeface="Malgun Gothic Semiligh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06778" y="6841032"/>
            <a:ext cx="5826760" cy="775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3A4E4E"/>
                </a:solidFill>
                <a:latin typeface="Malgun Gothic Semilight"/>
                <a:cs typeface="Malgun Gothic Semilight"/>
              </a:rPr>
              <a:t>Admin</a:t>
            </a:r>
            <a:r>
              <a:rPr dirty="0" sz="2050" spc="-3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5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Functionality</a:t>
            </a:r>
            <a:endParaRPr sz="20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Upload</a:t>
            </a:r>
            <a:r>
              <a:rPr dirty="0" sz="16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3A4E4E"/>
                </a:solidFill>
                <a:latin typeface="Tahoma"/>
                <a:cs typeface="Tahoma"/>
              </a:rPr>
              <a:t>new</a:t>
            </a:r>
            <a:r>
              <a:rPr dirty="0" sz="165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datasets</a:t>
            </a:r>
            <a:r>
              <a:rPr dirty="0" sz="1650" spc="-1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retrain</a:t>
            </a:r>
            <a:r>
              <a:rPr dirty="0" sz="165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models</a:t>
            </a:r>
            <a:r>
              <a:rPr dirty="0" sz="165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A4E4E"/>
                </a:solidFill>
                <a:latin typeface="Tahoma"/>
                <a:cs typeface="Tahoma"/>
              </a:rPr>
              <a:t>updated</a:t>
            </a:r>
            <a:r>
              <a:rPr dirty="0" sz="1650" spc="-1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A4E4E"/>
                </a:solidFill>
                <a:latin typeface="Tahoma"/>
                <a:cs typeface="Tahoma"/>
              </a:rPr>
              <a:t>forecasts.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083640"/>
            <a:ext cx="7360284" cy="7029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50" b="1">
                <a:latin typeface="Arial"/>
                <a:cs typeface="Arial"/>
              </a:rPr>
              <a:t>Modules</a:t>
            </a:r>
            <a:r>
              <a:rPr dirty="0" sz="4450" spc="-90" b="1">
                <a:latin typeface="Arial"/>
                <a:cs typeface="Arial"/>
              </a:rPr>
              <a:t> </a:t>
            </a:r>
            <a:r>
              <a:rPr dirty="0" sz="4450" b="1">
                <a:latin typeface="Arial"/>
                <a:cs typeface="Arial"/>
              </a:rPr>
              <a:t>to</a:t>
            </a:r>
            <a:r>
              <a:rPr dirty="0" sz="4450" spc="-140" b="1">
                <a:latin typeface="Arial"/>
                <a:cs typeface="Arial"/>
              </a:rPr>
              <a:t> </a:t>
            </a:r>
            <a:r>
              <a:rPr dirty="0" sz="4450" b="1">
                <a:latin typeface="Arial"/>
                <a:cs typeface="Arial"/>
              </a:rPr>
              <a:t>be</a:t>
            </a:r>
            <a:r>
              <a:rPr dirty="0" sz="4450" spc="-170" b="1">
                <a:latin typeface="Arial"/>
                <a:cs typeface="Arial"/>
              </a:rPr>
              <a:t> </a:t>
            </a:r>
            <a:r>
              <a:rPr dirty="0" sz="4450" spc="-40" b="1">
                <a:latin typeface="Arial"/>
                <a:cs typeface="Arial"/>
              </a:rPr>
              <a:t>Implemented</a:t>
            </a:r>
            <a:endParaRPr sz="44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89431" y="2173223"/>
            <a:ext cx="6419215" cy="688975"/>
            <a:chOff x="789431" y="2173223"/>
            <a:chExt cx="6419215" cy="688975"/>
          </a:xfrm>
        </p:grpSpPr>
        <p:sp>
          <p:nvSpPr>
            <p:cNvPr id="4" name="object 4" descr=""/>
            <p:cNvSpPr/>
            <p:nvPr/>
          </p:nvSpPr>
          <p:spPr>
            <a:xfrm>
              <a:off x="794003" y="2177795"/>
              <a:ext cx="6410325" cy="680085"/>
            </a:xfrm>
            <a:custGeom>
              <a:avLst/>
              <a:gdLst/>
              <a:ahLst/>
              <a:cxnLst/>
              <a:rect l="l" t="t" r="r" b="b"/>
              <a:pathLst>
                <a:path w="6410325" h="680085">
                  <a:moveTo>
                    <a:pt x="6070092" y="0"/>
                  </a:moveTo>
                  <a:lnTo>
                    <a:pt x="339852" y="0"/>
                  </a:lnTo>
                  <a:lnTo>
                    <a:pt x="293736" y="3102"/>
                  </a:lnTo>
                  <a:lnTo>
                    <a:pt x="249506" y="12139"/>
                  </a:lnTo>
                  <a:lnTo>
                    <a:pt x="207567" y="26705"/>
                  </a:lnTo>
                  <a:lnTo>
                    <a:pt x="168322" y="46397"/>
                  </a:lnTo>
                  <a:lnTo>
                    <a:pt x="132179" y="70809"/>
                  </a:lnTo>
                  <a:lnTo>
                    <a:pt x="99541" y="99536"/>
                  </a:lnTo>
                  <a:lnTo>
                    <a:pt x="70812" y="132173"/>
                  </a:lnTo>
                  <a:lnTo>
                    <a:pt x="46400" y="168317"/>
                  </a:lnTo>
                  <a:lnTo>
                    <a:pt x="26707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7" y="472142"/>
                  </a:lnTo>
                  <a:lnTo>
                    <a:pt x="46400" y="511386"/>
                  </a:lnTo>
                  <a:lnTo>
                    <a:pt x="70812" y="547530"/>
                  </a:lnTo>
                  <a:lnTo>
                    <a:pt x="99541" y="580167"/>
                  </a:lnTo>
                  <a:lnTo>
                    <a:pt x="132179" y="608894"/>
                  </a:lnTo>
                  <a:lnTo>
                    <a:pt x="168322" y="633306"/>
                  </a:lnTo>
                  <a:lnTo>
                    <a:pt x="207567" y="652998"/>
                  </a:lnTo>
                  <a:lnTo>
                    <a:pt x="249506" y="667564"/>
                  </a:lnTo>
                  <a:lnTo>
                    <a:pt x="293736" y="676601"/>
                  </a:lnTo>
                  <a:lnTo>
                    <a:pt x="339852" y="679703"/>
                  </a:lnTo>
                  <a:lnTo>
                    <a:pt x="6070092" y="679703"/>
                  </a:lnTo>
                  <a:lnTo>
                    <a:pt x="6116210" y="676601"/>
                  </a:lnTo>
                  <a:lnTo>
                    <a:pt x="6160441" y="667564"/>
                  </a:lnTo>
                  <a:lnTo>
                    <a:pt x="6202382" y="652998"/>
                  </a:lnTo>
                  <a:lnTo>
                    <a:pt x="6241626" y="633306"/>
                  </a:lnTo>
                  <a:lnTo>
                    <a:pt x="6277770" y="608894"/>
                  </a:lnTo>
                  <a:lnTo>
                    <a:pt x="6310407" y="580167"/>
                  </a:lnTo>
                  <a:lnTo>
                    <a:pt x="6339134" y="547530"/>
                  </a:lnTo>
                  <a:lnTo>
                    <a:pt x="6363546" y="511386"/>
                  </a:lnTo>
                  <a:lnTo>
                    <a:pt x="6383238" y="472142"/>
                  </a:lnTo>
                  <a:lnTo>
                    <a:pt x="6397804" y="430201"/>
                  </a:lnTo>
                  <a:lnTo>
                    <a:pt x="6406841" y="385970"/>
                  </a:lnTo>
                  <a:lnTo>
                    <a:pt x="6409944" y="339851"/>
                  </a:lnTo>
                  <a:lnTo>
                    <a:pt x="6406841" y="293733"/>
                  </a:lnTo>
                  <a:lnTo>
                    <a:pt x="6397804" y="249502"/>
                  </a:lnTo>
                  <a:lnTo>
                    <a:pt x="6383238" y="207561"/>
                  </a:lnTo>
                  <a:lnTo>
                    <a:pt x="6363546" y="168317"/>
                  </a:lnTo>
                  <a:lnTo>
                    <a:pt x="6339134" y="132173"/>
                  </a:lnTo>
                  <a:lnTo>
                    <a:pt x="6310407" y="99536"/>
                  </a:lnTo>
                  <a:lnTo>
                    <a:pt x="6277770" y="70809"/>
                  </a:lnTo>
                  <a:lnTo>
                    <a:pt x="6241626" y="46397"/>
                  </a:lnTo>
                  <a:lnTo>
                    <a:pt x="6202382" y="26705"/>
                  </a:lnTo>
                  <a:lnTo>
                    <a:pt x="6160441" y="12139"/>
                  </a:lnTo>
                  <a:lnTo>
                    <a:pt x="6116210" y="3102"/>
                  </a:lnTo>
                  <a:lnTo>
                    <a:pt x="6070092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4003" y="2177795"/>
              <a:ext cx="6410325" cy="680085"/>
            </a:xfrm>
            <a:custGeom>
              <a:avLst/>
              <a:gdLst/>
              <a:ahLst/>
              <a:cxnLst/>
              <a:rect l="l" t="t" r="r" b="b"/>
              <a:pathLst>
                <a:path w="6410325" h="680085">
                  <a:moveTo>
                    <a:pt x="0" y="339851"/>
                  </a:moveTo>
                  <a:lnTo>
                    <a:pt x="3102" y="293733"/>
                  </a:lnTo>
                  <a:lnTo>
                    <a:pt x="12139" y="249502"/>
                  </a:lnTo>
                  <a:lnTo>
                    <a:pt x="26707" y="207561"/>
                  </a:lnTo>
                  <a:lnTo>
                    <a:pt x="46400" y="168317"/>
                  </a:lnTo>
                  <a:lnTo>
                    <a:pt x="70812" y="132173"/>
                  </a:lnTo>
                  <a:lnTo>
                    <a:pt x="99541" y="99536"/>
                  </a:lnTo>
                  <a:lnTo>
                    <a:pt x="132179" y="70809"/>
                  </a:lnTo>
                  <a:lnTo>
                    <a:pt x="168322" y="46397"/>
                  </a:lnTo>
                  <a:lnTo>
                    <a:pt x="207567" y="26705"/>
                  </a:lnTo>
                  <a:lnTo>
                    <a:pt x="249506" y="12139"/>
                  </a:lnTo>
                  <a:lnTo>
                    <a:pt x="293736" y="3102"/>
                  </a:lnTo>
                  <a:lnTo>
                    <a:pt x="339852" y="0"/>
                  </a:lnTo>
                  <a:lnTo>
                    <a:pt x="6070092" y="0"/>
                  </a:lnTo>
                  <a:lnTo>
                    <a:pt x="6116210" y="3102"/>
                  </a:lnTo>
                  <a:lnTo>
                    <a:pt x="6160441" y="12139"/>
                  </a:lnTo>
                  <a:lnTo>
                    <a:pt x="6202382" y="26705"/>
                  </a:lnTo>
                  <a:lnTo>
                    <a:pt x="6241626" y="46397"/>
                  </a:lnTo>
                  <a:lnTo>
                    <a:pt x="6277770" y="70809"/>
                  </a:lnTo>
                  <a:lnTo>
                    <a:pt x="6310407" y="99536"/>
                  </a:lnTo>
                  <a:lnTo>
                    <a:pt x="6339134" y="132173"/>
                  </a:lnTo>
                  <a:lnTo>
                    <a:pt x="6363546" y="168317"/>
                  </a:lnTo>
                  <a:lnTo>
                    <a:pt x="6383238" y="207561"/>
                  </a:lnTo>
                  <a:lnTo>
                    <a:pt x="6397804" y="249502"/>
                  </a:lnTo>
                  <a:lnTo>
                    <a:pt x="6406841" y="293733"/>
                  </a:lnTo>
                  <a:lnTo>
                    <a:pt x="6409944" y="339851"/>
                  </a:lnTo>
                  <a:lnTo>
                    <a:pt x="6406841" y="385970"/>
                  </a:lnTo>
                  <a:lnTo>
                    <a:pt x="6397804" y="430201"/>
                  </a:lnTo>
                  <a:lnTo>
                    <a:pt x="6383238" y="472142"/>
                  </a:lnTo>
                  <a:lnTo>
                    <a:pt x="6363546" y="511386"/>
                  </a:lnTo>
                  <a:lnTo>
                    <a:pt x="6339134" y="547530"/>
                  </a:lnTo>
                  <a:lnTo>
                    <a:pt x="6310407" y="580167"/>
                  </a:lnTo>
                  <a:lnTo>
                    <a:pt x="6277770" y="608894"/>
                  </a:lnTo>
                  <a:lnTo>
                    <a:pt x="6241626" y="633306"/>
                  </a:lnTo>
                  <a:lnTo>
                    <a:pt x="6202382" y="652998"/>
                  </a:lnTo>
                  <a:lnTo>
                    <a:pt x="6160441" y="667564"/>
                  </a:lnTo>
                  <a:lnTo>
                    <a:pt x="6116210" y="676601"/>
                  </a:lnTo>
                  <a:lnTo>
                    <a:pt x="6070092" y="679703"/>
                  </a:lnTo>
                  <a:lnTo>
                    <a:pt x="339852" y="679703"/>
                  </a:lnTo>
                  <a:lnTo>
                    <a:pt x="293736" y="676601"/>
                  </a:lnTo>
                  <a:lnTo>
                    <a:pt x="249506" y="667564"/>
                  </a:lnTo>
                  <a:lnTo>
                    <a:pt x="207567" y="652998"/>
                  </a:lnTo>
                  <a:lnTo>
                    <a:pt x="168322" y="633306"/>
                  </a:lnTo>
                  <a:lnTo>
                    <a:pt x="132179" y="608894"/>
                  </a:lnTo>
                  <a:lnTo>
                    <a:pt x="99541" y="580167"/>
                  </a:lnTo>
                  <a:lnTo>
                    <a:pt x="70812" y="547530"/>
                  </a:lnTo>
                  <a:lnTo>
                    <a:pt x="46400" y="511386"/>
                  </a:lnTo>
                  <a:lnTo>
                    <a:pt x="26707" y="472142"/>
                  </a:lnTo>
                  <a:lnTo>
                    <a:pt x="12139" y="430201"/>
                  </a:lnTo>
                  <a:lnTo>
                    <a:pt x="3102" y="385970"/>
                  </a:lnTo>
                  <a:lnTo>
                    <a:pt x="0" y="339851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424928" y="2173223"/>
            <a:ext cx="6419215" cy="688975"/>
            <a:chOff x="7424928" y="2173223"/>
            <a:chExt cx="6419215" cy="688975"/>
          </a:xfrm>
        </p:grpSpPr>
        <p:sp>
          <p:nvSpPr>
            <p:cNvPr id="7" name="object 7" descr=""/>
            <p:cNvSpPr/>
            <p:nvPr/>
          </p:nvSpPr>
          <p:spPr>
            <a:xfrm>
              <a:off x="7429500" y="2177795"/>
              <a:ext cx="6410325" cy="680085"/>
            </a:xfrm>
            <a:custGeom>
              <a:avLst/>
              <a:gdLst/>
              <a:ahLst/>
              <a:cxnLst/>
              <a:rect l="l" t="t" r="r" b="b"/>
              <a:pathLst>
                <a:path w="6410325" h="680085">
                  <a:moveTo>
                    <a:pt x="6070092" y="0"/>
                  </a:moveTo>
                  <a:lnTo>
                    <a:pt x="339851" y="0"/>
                  </a:lnTo>
                  <a:lnTo>
                    <a:pt x="293733" y="3102"/>
                  </a:lnTo>
                  <a:lnTo>
                    <a:pt x="249502" y="12139"/>
                  </a:lnTo>
                  <a:lnTo>
                    <a:pt x="207561" y="26705"/>
                  </a:lnTo>
                  <a:lnTo>
                    <a:pt x="168317" y="46397"/>
                  </a:lnTo>
                  <a:lnTo>
                    <a:pt x="132173" y="70809"/>
                  </a:lnTo>
                  <a:lnTo>
                    <a:pt x="99536" y="99536"/>
                  </a:lnTo>
                  <a:lnTo>
                    <a:pt x="70809" y="132173"/>
                  </a:lnTo>
                  <a:lnTo>
                    <a:pt x="46397" y="168317"/>
                  </a:lnTo>
                  <a:lnTo>
                    <a:pt x="26705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5" y="472142"/>
                  </a:lnTo>
                  <a:lnTo>
                    <a:pt x="46397" y="511386"/>
                  </a:lnTo>
                  <a:lnTo>
                    <a:pt x="70809" y="547530"/>
                  </a:lnTo>
                  <a:lnTo>
                    <a:pt x="99536" y="580167"/>
                  </a:lnTo>
                  <a:lnTo>
                    <a:pt x="132173" y="608894"/>
                  </a:lnTo>
                  <a:lnTo>
                    <a:pt x="168317" y="633306"/>
                  </a:lnTo>
                  <a:lnTo>
                    <a:pt x="207561" y="652998"/>
                  </a:lnTo>
                  <a:lnTo>
                    <a:pt x="249502" y="667564"/>
                  </a:lnTo>
                  <a:lnTo>
                    <a:pt x="293733" y="676601"/>
                  </a:lnTo>
                  <a:lnTo>
                    <a:pt x="339851" y="679703"/>
                  </a:lnTo>
                  <a:lnTo>
                    <a:pt x="6070092" y="679703"/>
                  </a:lnTo>
                  <a:lnTo>
                    <a:pt x="6116210" y="676601"/>
                  </a:lnTo>
                  <a:lnTo>
                    <a:pt x="6160441" y="667564"/>
                  </a:lnTo>
                  <a:lnTo>
                    <a:pt x="6202382" y="652998"/>
                  </a:lnTo>
                  <a:lnTo>
                    <a:pt x="6241626" y="633306"/>
                  </a:lnTo>
                  <a:lnTo>
                    <a:pt x="6277770" y="608894"/>
                  </a:lnTo>
                  <a:lnTo>
                    <a:pt x="6310407" y="580167"/>
                  </a:lnTo>
                  <a:lnTo>
                    <a:pt x="6339134" y="547530"/>
                  </a:lnTo>
                  <a:lnTo>
                    <a:pt x="6363546" y="511386"/>
                  </a:lnTo>
                  <a:lnTo>
                    <a:pt x="6383238" y="472142"/>
                  </a:lnTo>
                  <a:lnTo>
                    <a:pt x="6397804" y="430201"/>
                  </a:lnTo>
                  <a:lnTo>
                    <a:pt x="6406841" y="385970"/>
                  </a:lnTo>
                  <a:lnTo>
                    <a:pt x="6409944" y="339851"/>
                  </a:lnTo>
                  <a:lnTo>
                    <a:pt x="6406841" y="293733"/>
                  </a:lnTo>
                  <a:lnTo>
                    <a:pt x="6397804" y="249502"/>
                  </a:lnTo>
                  <a:lnTo>
                    <a:pt x="6383238" y="207561"/>
                  </a:lnTo>
                  <a:lnTo>
                    <a:pt x="6363546" y="168317"/>
                  </a:lnTo>
                  <a:lnTo>
                    <a:pt x="6339134" y="132173"/>
                  </a:lnTo>
                  <a:lnTo>
                    <a:pt x="6310407" y="99536"/>
                  </a:lnTo>
                  <a:lnTo>
                    <a:pt x="6277770" y="70809"/>
                  </a:lnTo>
                  <a:lnTo>
                    <a:pt x="6241626" y="46397"/>
                  </a:lnTo>
                  <a:lnTo>
                    <a:pt x="6202382" y="26705"/>
                  </a:lnTo>
                  <a:lnTo>
                    <a:pt x="6160441" y="12139"/>
                  </a:lnTo>
                  <a:lnTo>
                    <a:pt x="6116210" y="3102"/>
                  </a:lnTo>
                  <a:lnTo>
                    <a:pt x="6070092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429500" y="2177795"/>
              <a:ext cx="6410325" cy="680085"/>
            </a:xfrm>
            <a:custGeom>
              <a:avLst/>
              <a:gdLst/>
              <a:ahLst/>
              <a:cxnLst/>
              <a:rect l="l" t="t" r="r" b="b"/>
              <a:pathLst>
                <a:path w="6410325" h="680085">
                  <a:moveTo>
                    <a:pt x="0" y="339851"/>
                  </a:moveTo>
                  <a:lnTo>
                    <a:pt x="3102" y="293733"/>
                  </a:lnTo>
                  <a:lnTo>
                    <a:pt x="12139" y="249502"/>
                  </a:lnTo>
                  <a:lnTo>
                    <a:pt x="26705" y="207561"/>
                  </a:lnTo>
                  <a:lnTo>
                    <a:pt x="46397" y="168317"/>
                  </a:lnTo>
                  <a:lnTo>
                    <a:pt x="70809" y="132173"/>
                  </a:lnTo>
                  <a:lnTo>
                    <a:pt x="99536" y="99536"/>
                  </a:lnTo>
                  <a:lnTo>
                    <a:pt x="132173" y="70809"/>
                  </a:lnTo>
                  <a:lnTo>
                    <a:pt x="168317" y="46397"/>
                  </a:lnTo>
                  <a:lnTo>
                    <a:pt x="207561" y="26705"/>
                  </a:lnTo>
                  <a:lnTo>
                    <a:pt x="249502" y="12139"/>
                  </a:lnTo>
                  <a:lnTo>
                    <a:pt x="293733" y="3102"/>
                  </a:lnTo>
                  <a:lnTo>
                    <a:pt x="339851" y="0"/>
                  </a:lnTo>
                  <a:lnTo>
                    <a:pt x="6070092" y="0"/>
                  </a:lnTo>
                  <a:lnTo>
                    <a:pt x="6116210" y="3102"/>
                  </a:lnTo>
                  <a:lnTo>
                    <a:pt x="6160441" y="12139"/>
                  </a:lnTo>
                  <a:lnTo>
                    <a:pt x="6202382" y="26705"/>
                  </a:lnTo>
                  <a:lnTo>
                    <a:pt x="6241626" y="46397"/>
                  </a:lnTo>
                  <a:lnTo>
                    <a:pt x="6277770" y="70809"/>
                  </a:lnTo>
                  <a:lnTo>
                    <a:pt x="6310407" y="99536"/>
                  </a:lnTo>
                  <a:lnTo>
                    <a:pt x="6339134" y="132173"/>
                  </a:lnTo>
                  <a:lnTo>
                    <a:pt x="6363546" y="168317"/>
                  </a:lnTo>
                  <a:lnTo>
                    <a:pt x="6383238" y="207561"/>
                  </a:lnTo>
                  <a:lnTo>
                    <a:pt x="6397804" y="249502"/>
                  </a:lnTo>
                  <a:lnTo>
                    <a:pt x="6406841" y="293733"/>
                  </a:lnTo>
                  <a:lnTo>
                    <a:pt x="6409944" y="339851"/>
                  </a:lnTo>
                  <a:lnTo>
                    <a:pt x="6406841" y="385970"/>
                  </a:lnTo>
                  <a:lnTo>
                    <a:pt x="6397804" y="430201"/>
                  </a:lnTo>
                  <a:lnTo>
                    <a:pt x="6383238" y="472142"/>
                  </a:lnTo>
                  <a:lnTo>
                    <a:pt x="6363546" y="511386"/>
                  </a:lnTo>
                  <a:lnTo>
                    <a:pt x="6339134" y="547530"/>
                  </a:lnTo>
                  <a:lnTo>
                    <a:pt x="6310407" y="580167"/>
                  </a:lnTo>
                  <a:lnTo>
                    <a:pt x="6277770" y="608894"/>
                  </a:lnTo>
                  <a:lnTo>
                    <a:pt x="6241626" y="633306"/>
                  </a:lnTo>
                  <a:lnTo>
                    <a:pt x="6202382" y="652998"/>
                  </a:lnTo>
                  <a:lnTo>
                    <a:pt x="6160441" y="667564"/>
                  </a:lnTo>
                  <a:lnTo>
                    <a:pt x="6116210" y="676601"/>
                  </a:lnTo>
                  <a:lnTo>
                    <a:pt x="6070092" y="679703"/>
                  </a:lnTo>
                  <a:lnTo>
                    <a:pt x="339851" y="679703"/>
                  </a:lnTo>
                  <a:lnTo>
                    <a:pt x="293733" y="676601"/>
                  </a:lnTo>
                  <a:lnTo>
                    <a:pt x="249502" y="667564"/>
                  </a:lnTo>
                  <a:lnTo>
                    <a:pt x="207561" y="652998"/>
                  </a:lnTo>
                  <a:lnTo>
                    <a:pt x="168317" y="633306"/>
                  </a:lnTo>
                  <a:lnTo>
                    <a:pt x="132173" y="608894"/>
                  </a:lnTo>
                  <a:lnTo>
                    <a:pt x="99536" y="580167"/>
                  </a:lnTo>
                  <a:lnTo>
                    <a:pt x="70809" y="547530"/>
                  </a:lnTo>
                  <a:lnTo>
                    <a:pt x="46397" y="511386"/>
                  </a:lnTo>
                  <a:lnTo>
                    <a:pt x="26705" y="472142"/>
                  </a:lnTo>
                  <a:lnTo>
                    <a:pt x="12139" y="430201"/>
                  </a:lnTo>
                  <a:lnTo>
                    <a:pt x="3102" y="385970"/>
                  </a:lnTo>
                  <a:lnTo>
                    <a:pt x="0" y="339851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789431" y="4748784"/>
            <a:ext cx="6419215" cy="692150"/>
            <a:chOff x="789431" y="4748784"/>
            <a:chExt cx="6419215" cy="692150"/>
          </a:xfrm>
        </p:grpSpPr>
        <p:sp>
          <p:nvSpPr>
            <p:cNvPr id="10" name="object 10" descr=""/>
            <p:cNvSpPr/>
            <p:nvPr/>
          </p:nvSpPr>
          <p:spPr>
            <a:xfrm>
              <a:off x="794003" y="4753356"/>
              <a:ext cx="6410325" cy="683260"/>
            </a:xfrm>
            <a:custGeom>
              <a:avLst/>
              <a:gdLst/>
              <a:ahLst/>
              <a:cxnLst/>
              <a:rect l="l" t="t" r="r" b="b"/>
              <a:pathLst>
                <a:path w="6410325" h="683260">
                  <a:moveTo>
                    <a:pt x="6068568" y="0"/>
                  </a:moveTo>
                  <a:lnTo>
                    <a:pt x="341376" y="0"/>
                  </a:lnTo>
                  <a:lnTo>
                    <a:pt x="295051" y="3115"/>
                  </a:lnTo>
                  <a:lnTo>
                    <a:pt x="250622" y="12190"/>
                  </a:lnTo>
                  <a:lnTo>
                    <a:pt x="208493" y="26818"/>
                  </a:lnTo>
                  <a:lnTo>
                    <a:pt x="169073" y="46594"/>
                  </a:lnTo>
                  <a:lnTo>
                    <a:pt x="132768" y="71112"/>
                  </a:lnTo>
                  <a:lnTo>
                    <a:pt x="99983" y="99964"/>
                  </a:lnTo>
                  <a:lnTo>
                    <a:pt x="71127" y="132746"/>
                  </a:lnTo>
                  <a:lnTo>
                    <a:pt x="46606" y="169051"/>
                  </a:lnTo>
                  <a:lnTo>
                    <a:pt x="26825" y="208472"/>
                  </a:lnTo>
                  <a:lnTo>
                    <a:pt x="12193" y="250604"/>
                  </a:lnTo>
                  <a:lnTo>
                    <a:pt x="3116" y="295041"/>
                  </a:lnTo>
                  <a:lnTo>
                    <a:pt x="0" y="341376"/>
                  </a:lnTo>
                  <a:lnTo>
                    <a:pt x="3116" y="387710"/>
                  </a:lnTo>
                  <a:lnTo>
                    <a:pt x="12193" y="432147"/>
                  </a:lnTo>
                  <a:lnTo>
                    <a:pt x="26825" y="474279"/>
                  </a:lnTo>
                  <a:lnTo>
                    <a:pt x="46606" y="513700"/>
                  </a:lnTo>
                  <a:lnTo>
                    <a:pt x="71127" y="550005"/>
                  </a:lnTo>
                  <a:lnTo>
                    <a:pt x="99983" y="582787"/>
                  </a:lnTo>
                  <a:lnTo>
                    <a:pt x="132768" y="611639"/>
                  </a:lnTo>
                  <a:lnTo>
                    <a:pt x="169073" y="636157"/>
                  </a:lnTo>
                  <a:lnTo>
                    <a:pt x="208493" y="655933"/>
                  </a:lnTo>
                  <a:lnTo>
                    <a:pt x="250622" y="670561"/>
                  </a:lnTo>
                  <a:lnTo>
                    <a:pt x="295051" y="679636"/>
                  </a:lnTo>
                  <a:lnTo>
                    <a:pt x="341376" y="682752"/>
                  </a:lnTo>
                  <a:lnTo>
                    <a:pt x="6068568" y="682752"/>
                  </a:lnTo>
                  <a:lnTo>
                    <a:pt x="6114902" y="679636"/>
                  </a:lnTo>
                  <a:lnTo>
                    <a:pt x="6159339" y="670561"/>
                  </a:lnTo>
                  <a:lnTo>
                    <a:pt x="6201471" y="655933"/>
                  </a:lnTo>
                  <a:lnTo>
                    <a:pt x="6240892" y="636157"/>
                  </a:lnTo>
                  <a:lnTo>
                    <a:pt x="6277197" y="611639"/>
                  </a:lnTo>
                  <a:lnTo>
                    <a:pt x="6309979" y="582787"/>
                  </a:lnTo>
                  <a:lnTo>
                    <a:pt x="6338831" y="550005"/>
                  </a:lnTo>
                  <a:lnTo>
                    <a:pt x="6363349" y="513700"/>
                  </a:lnTo>
                  <a:lnTo>
                    <a:pt x="6383125" y="474279"/>
                  </a:lnTo>
                  <a:lnTo>
                    <a:pt x="6397753" y="432147"/>
                  </a:lnTo>
                  <a:lnTo>
                    <a:pt x="6406828" y="387710"/>
                  </a:lnTo>
                  <a:lnTo>
                    <a:pt x="6409944" y="341376"/>
                  </a:lnTo>
                  <a:lnTo>
                    <a:pt x="6406828" y="295041"/>
                  </a:lnTo>
                  <a:lnTo>
                    <a:pt x="6397753" y="250604"/>
                  </a:lnTo>
                  <a:lnTo>
                    <a:pt x="6383125" y="208472"/>
                  </a:lnTo>
                  <a:lnTo>
                    <a:pt x="6363349" y="169051"/>
                  </a:lnTo>
                  <a:lnTo>
                    <a:pt x="6338831" y="132746"/>
                  </a:lnTo>
                  <a:lnTo>
                    <a:pt x="6309979" y="99964"/>
                  </a:lnTo>
                  <a:lnTo>
                    <a:pt x="6277197" y="71112"/>
                  </a:lnTo>
                  <a:lnTo>
                    <a:pt x="6240892" y="46594"/>
                  </a:lnTo>
                  <a:lnTo>
                    <a:pt x="6201471" y="26818"/>
                  </a:lnTo>
                  <a:lnTo>
                    <a:pt x="6159339" y="12190"/>
                  </a:lnTo>
                  <a:lnTo>
                    <a:pt x="6114902" y="3115"/>
                  </a:lnTo>
                  <a:lnTo>
                    <a:pt x="6068568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4003" y="4753356"/>
              <a:ext cx="6410325" cy="683260"/>
            </a:xfrm>
            <a:custGeom>
              <a:avLst/>
              <a:gdLst/>
              <a:ahLst/>
              <a:cxnLst/>
              <a:rect l="l" t="t" r="r" b="b"/>
              <a:pathLst>
                <a:path w="6410325" h="683260">
                  <a:moveTo>
                    <a:pt x="0" y="341376"/>
                  </a:moveTo>
                  <a:lnTo>
                    <a:pt x="3116" y="295041"/>
                  </a:lnTo>
                  <a:lnTo>
                    <a:pt x="12193" y="250604"/>
                  </a:lnTo>
                  <a:lnTo>
                    <a:pt x="26825" y="208472"/>
                  </a:lnTo>
                  <a:lnTo>
                    <a:pt x="46606" y="169051"/>
                  </a:lnTo>
                  <a:lnTo>
                    <a:pt x="71127" y="132746"/>
                  </a:lnTo>
                  <a:lnTo>
                    <a:pt x="99983" y="99964"/>
                  </a:lnTo>
                  <a:lnTo>
                    <a:pt x="132768" y="71112"/>
                  </a:lnTo>
                  <a:lnTo>
                    <a:pt x="169073" y="46594"/>
                  </a:lnTo>
                  <a:lnTo>
                    <a:pt x="208493" y="26818"/>
                  </a:lnTo>
                  <a:lnTo>
                    <a:pt x="250622" y="12190"/>
                  </a:lnTo>
                  <a:lnTo>
                    <a:pt x="295051" y="3115"/>
                  </a:lnTo>
                  <a:lnTo>
                    <a:pt x="341376" y="0"/>
                  </a:lnTo>
                  <a:lnTo>
                    <a:pt x="6068568" y="0"/>
                  </a:lnTo>
                  <a:lnTo>
                    <a:pt x="6114902" y="3115"/>
                  </a:lnTo>
                  <a:lnTo>
                    <a:pt x="6159339" y="12190"/>
                  </a:lnTo>
                  <a:lnTo>
                    <a:pt x="6201471" y="26818"/>
                  </a:lnTo>
                  <a:lnTo>
                    <a:pt x="6240892" y="46594"/>
                  </a:lnTo>
                  <a:lnTo>
                    <a:pt x="6277197" y="71112"/>
                  </a:lnTo>
                  <a:lnTo>
                    <a:pt x="6309979" y="99964"/>
                  </a:lnTo>
                  <a:lnTo>
                    <a:pt x="6338831" y="132746"/>
                  </a:lnTo>
                  <a:lnTo>
                    <a:pt x="6363349" y="169051"/>
                  </a:lnTo>
                  <a:lnTo>
                    <a:pt x="6383125" y="208472"/>
                  </a:lnTo>
                  <a:lnTo>
                    <a:pt x="6397753" y="250604"/>
                  </a:lnTo>
                  <a:lnTo>
                    <a:pt x="6406828" y="295041"/>
                  </a:lnTo>
                  <a:lnTo>
                    <a:pt x="6409944" y="341376"/>
                  </a:lnTo>
                  <a:lnTo>
                    <a:pt x="6406828" y="387710"/>
                  </a:lnTo>
                  <a:lnTo>
                    <a:pt x="6397753" y="432147"/>
                  </a:lnTo>
                  <a:lnTo>
                    <a:pt x="6383125" y="474279"/>
                  </a:lnTo>
                  <a:lnTo>
                    <a:pt x="6363349" y="513700"/>
                  </a:lnTo>
                  <a:lnTo>
                    <a:pt x="6338831" y="550005"/>
                  </a:lnTo>
                  <a:lnTo>
                    <a:pt x="6309979" y="582787"/>
                  </a:lnTo>
                  <a:lnTo>
                    <a:pt x="6277197" y="611639"/>
                  </a:lnTo>
                  <a:lnTo>
                    <a:pt x="6240892" y="636157"/>
                  </a:lnTo>
                  <a:lnTo>
                    <a:pt x="6201471" y="655933"/>
                  </a:lnTo>
                  <a:lnTo>
                    <a:pt x="6159339" y="670561"/>
                  </a:lnTo>
                  <a:lnTo>
                    <a:pt x="6114902" y="679636"/>
                  </a:lnTo>
                  <a:lnTo>
                    <a:pt x="6068568" y="682752"/>
                  </a:lnTo>
                  <a:lnTo>
                    <a:pt x="341376" y="682752"/>
                  </a:lnTo>
                  <a:lnTo>
                    <a:pt x="295051" y="679636"/>
                  </a:lnTo>
                  <a:lnTo>
                    <a:pt x="250622" y="670561"/>
                  </a:lnTo>
                  <a:lnTo>
                    <a:pt x="208493" y="655933"/>
                  </a:lnTo>
                  <a:lnTo>
                    <a:pt x="169073" y="636157"/>
                  </a:lnTo>
                  <a:lnTo>
                    <a:pt x="132768" y="611639"/>
                  </a:lnTo>
                  <a:lnTo>
                    <a:pt x="99983" y="582787"/>
                  </a:lnTo>
                  <a:lnTo>
                    <a:pt x="71127" y="550005"/>
                  </a:lnTo>
                  <a:lnTo>
                    <a:pt x="46606" y="513700"/>
                  </a:lnTo>
                  <a:lnTo>
                    <a:pt x="26825" y="474279"/>
                  </a:lnTo>
                  <a:lnTo>
                    <a:pt x="12193" y="432147"/>
                  </a:lnTo>
                  <a:lnTo>
                    <a:pt x="3116" y="387710"/>
                  </a:lnTo>
                  <a:lnTo>
                    <a:pt x="0" y="341376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R="102870">
              <a:lnSpc>
                <a:spcPct val="100000"/>
              </a:lnSpc>
              <a:spcBef>
                <a:spcPts val="90"/>
              </a:spcBef>
            </a:pPr>
            <a:r>
              <a:rPr dirty="0" spc="-50"/>
              <a:t>1</a:t>
            </a:r>
          </a:p>
          <a:p>
            <a:pPr>
              <a:lnSpc>
                <a:spcPct val="100000"/>
              </a:lnSpc>
              <a:spcBef>
                <a:spcPts val="45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25"/>
              <a:t>Data</a:t>
            </a:r>
            <a:r>
              <a:rPr dirty="0" sz="2200" spc="-135"/>
              <a:t> </a:t>
            </a:r>
            <a:r>
              <a:rPr dirty="0" sz="2200" spc="-50"/>
              <a:t>Collection</a:t>
            </a:r>
            <a:r>
              <a:rPr dirty="0" sz="2200" spc="-45"/>
              <a:t> </a:t>
            </a:r>
            <a:r>
              <a:rPr dirty="0" sz="2200"/>
              <a:t>&amp;</a:t>
            </a:r>
            <a:r>
              <a:rPr dirty="0" sz="2200" spc="-25"/>
              <a:t> </a:t>
            </a:r>
            <a:r>
              <a:rPr dirty="0" sz="2200" spc="-10"/>
              <a:t>Preprocessing</a:t>
            </a:r>
            <a:endParaRPr sz="2200"/>
          </a:p>
          <a:p>
            <a:pPr marL="12700" marR="916305">
              <a:lnSpc>
                <a:spcPct val="140600"/>
              </a:lnSpc>
              <a:spcBef>
                <a:spcPts val="770"/>
              </a:spcBef>
            </a:pPr>
            <a:r>
              <a:rPr dirty="0" sz="1750" b="0">
                <a:latin typeface="Tahoma"/>
                <a:cs typeface="Tahoma"/>
              </a:rPr>
              <a:t>Load</a:t>
            </a:r>
            <a:r>
              <a:rPr dirty="0" sz="1750" spc="-3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historical</a:t>
            </a:r>
            <a:r>
              <a:rPr dirty="0" sz="1750" spc="-45" b="0">
                <a:latin typeface="Tahoma"/>
                <a:cs typeface="Tahoma"/>
              </a:rPr>
              <a:t> </a:t>
            </a:r>
            <a:r>
              <a:rPr dirty="0" sz="1750" spc="-25" b="0">
                <a:latin typeface="Tahoma"/>
                <a:cs typeface="Tahoma"/>
              </a:rPr>
              <a:t>data,</a:t>
            </a:r>
            <a:r>
              <a:rPr dirty="0" sz="1750" spc="-5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handle</a:t>
            </a:r>
            <a:r>
              <a:rPr dirty="0" sz="1750" spc="-5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missing</a:t>
            </a:r>
            <a:r>
              <a:rPr dirty="0" sz="1750" spc="-80" b="0">
                <a:latin typeface="Tahoma"/>
                <a:cs typeface="Tahoma"/>
              </a:rPr>
              <a:t> </a:t>
            </a:r>
            <a:r>
              <a:rPr dirty="0" sz="1750" spc="-10" b="0">
                <a:latin typeface="Tahoma"/>
                <a:cs typeface="Tahoma"/>
              </a:rPr>
              <a:t>values,</a:t>
            </a:r>
            <a:r>
              <a:rPr dirty="0" sz="1750" spc="-45" b="0">
                <a:latin typeface="Tahoma"/>
                <a:cs typeface="Tahoma"/>
              </a:rPr>
              <a:t> </a:t>
            </a:r>
            <a:r>
              <a:rPr dirty="0" sz="1750" spc="-10" b="0">
                <a:latin typeface="Tahoma"/>
                <a:cs typeface="Tahoma"/>
              </a:rPr>
              <a:t>feature engineering.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750">
              <a:latin typeface="Tahoma"/>
              <a:cs typeface="Tahoma"/>
            </a:endParaRPr>
          </a:p>
          <a:p>
            <a:pPr algn="ctr" marR="102870">
              <a:lnSpc>
                <a:spcPct val="100000"/>
              </a:lnSpc>
            </a:pPr>
            <a:r>
              <a:rPr dirty="0" spc="-50"/>
              <a:t>3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</a:p>
          <a:p>
            <a:pPr marL="12700">
              <a:lnSpc>
                <a:spcPct val="100000"/>
              </a:lnSpc>
            </a:pPr>
            <a:r>
              <a:rPr dirty="0" sz="2200" spc="-65"/>
              <a:t>Alerting</a:t>
            </a:r>
            <a:r>
              <a:rPr dirty="0" sz="2200" spc="-90"/>
              <a:t> </a:t>
            </a:r>
            <a:r>
              <a:rPr dirty="0" sz="2200"/>
              <a:t>&amp;</a:t>
            </a:r>
            <a:r>
              <a:rPr dirty="0" sz="2200" spc="5"/>
              <a:t> </a:t>
            </a:r>
            <a:r>
              <a:rPr dirty="0" sz="2200" spc="-95"/>
              <a:t>Trend</a:t>
            </a:r>
            <a:r>
              <a:rPr dirty="0" sz="2200" spc="-114"/>
              <a:t> </a:t>
            </a:r>
            <a:r>
              <a:rPr dirty="0" sz="2200" spc="-10"/>
              <a:t>Analysis</a:t>
            </a:r>
            <a:endParaRPr sz="2200"/>
          </a:p>
          <a:p>
            <a:pPr marL="12700" marR="5080">
              <a:lnSpc>
                <a:spcPct val="140600"/>
              </a:lnSpc>
              <a:spcBef>
                <a:spcPts val="775"/>
              </a:spcBef>
            </a:pPr>
            <a:r>
              <a:rPr dirty="0" sz="1750" b="0">
                <a:latin typeface="Tahoma"/>
                <a:cs typeface="Tahoma"/>
              </a:rPr>
              <a:t>Calculate</a:t>
            </a:r>
            <a:r>
              <a:rPr dirty="0" sz="1750" spc="10" b="0">
                <a:latin typeface="Tahoma"/>
                <a:cs typeface="Tahoma"/>
              </a:rPr>
              <a:t> </a:t>
            </a:r>
            <a:r>
              <a:rPr dirty="0" sz="1750" spc="-20" b="0">
                <a:latin typeface="Tahoma"/>
                <a:cs typeface="Tahoma"/>
              </a:rPr>
              <a:t>AQI</a:t>
            </a:r>
            <a:r>
              <a:rPr dirty="0" sz="1750" spc="1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categories,</a:t>
            </a:r>
            <a:r>
              <a:rPr dirty="0" sz="1750" spc="2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highlight</a:t>
            </a:r>
            <a:r>
              <a:rPr dirty="0" sz="1750" spc="-2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risks,</a:t>
            </a:r>
            <a:r>
              <a:rPr dirty="0" sz="1750" spc="5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visualize</a:t>
            </a:r>
            <a:r>
              <a:rPr dirty="0" sz="1750" spc="1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long-</a:t>
            </a:r>
            <a:r>
              <a:rPr dirty="0" sz="1750" spc="-20" b="0">
                <a:latin typeface="Tahoma"/>
                <a:cs typeface="Tahoma"/>
              </a:rPr>
              <a:t>term </a:t>
            </a:r>
            <a:r>
              <a:rPr dirty="0" sz="1750" spc="-10" b="0">
                <a:latin typeface="Tahoma"/>
                <a:cs typeface="Tahoma"/>
              </a:rPr>
              <a:t>trends.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424928" y="4748784"/>
            <a:ext cx="6419215" cy="692150"/>
            <a:chOff x="7424928" y="4748784"/>
            <a:chExt cx="6419215" cy="692150"/>
          </a:xfrm>
        </p:grpSpPr>
        <p:sp>
          <p:nvSpPr>
            <p:cNvPr id="14" name="object 14" descr=""/>
            <p:cNvSpPr/>
            <p:nvPr/>
          </p:nvSpPr>
          <p:spPr>
            <a:xfrm>
              <a:off x="7429500" y="4753356"/>
              <a:ext cx="6410325" cy="683260"/>
            </a:xfrm>
            <a:custGeom>
              <a:avLst/>
              <a:gdLst/>
              <a:ahLst/>
              <a:cxnLst/>
              <a:rect l="l" t="t" r="r" b="b"/>
              <a:pathLst>
                <a:path w="6410325" h="683260">
                  <a:moveTo>
                    <a:pt x="6068567" y="0"/>
                  </a:moveTo>
                  <a:lnTo>
                    <a:pt x="341375" y="0"/>
                  </a:lnTo>
                  <a:lnTo>
                    <a:pt x="295041" y="3115"/>
                  </a:lnTo>
                  <a:lnTo>
                    <a:pt x="250604" y="12190"/>
                  </a:lnTo>
                  <a:lnTo>
                    <a:pt x="208472" y="26818"/>
                  </a:lnTo>
                  <a:lnTo>
                    <a:pt x="169051" y="46594"/>
                  </a:lnTo>
                  <a:lnTo>
                    <a:pt x="132746" y="71112"/>
                  </a:lnTo>
                  <a:lnTo>
                    <a:pt x="99964" y="99964"/>
                  </a:lnTo>
                  <a:lnTo>
                    <a:pt x="71112" y="132746"/>
                  </a:lnTo>
                  <a:lnTo>
                    <a:pt x="46594" y="169051"/>
                  </a:lnTo>
                  <a:lnTo>
                    <a:pt x="26818" y="208472"/>
                  </a:lnTo>
                  <a:lnTo>
                    <a:pt x="12190" y="250604"/>
                  </a:lnTo>
                  <a:lnTo>
                    <a:pt x="3115" y="295041"/>
                  </a:lnTo>
                  <a:lnTo>
                    <a:pt x="0" y="341376"/>
                  </a:lnTo>
                  <a:lnTo>
                    <a:pt x="3115" y="387710"/>
                  </a:lnTo>
                  <a:lnTo>
                    <a:pt x="12190" y="432147"/>
                  </a:lnTo>
                  <a:lnTo>
                    <a:pt x="26818" y="474279"/>
                  </a:lnTo>
                  <a:lnTo>
                    <a:pt x="46594" y="513700"/>
                  </a:lnTo>
                  <a:lnTo>
                    <a:pt x="71112" y="550005"/>
                  </a:lnTo>
                  <a:lnTo>
                    <a:pt x="99964" y="582787"/>
                  </a:lnTo>
                  <a:lnTo>
                    <a:pt x="132746" y="611639"/>
                  </a:lnTo>
                  <a:lnTo>
                    <a:pt x="169051" y="636157"/>
                  </a:lnTo>
                  <a:lnTo>
                    <a:pt x="208472" y="655933"/>
                  </a:lnTo>
                  <a:lnTo>
                    <a:pt x="250604" y="670561"/>
                  </a:lnTo>
                  <a:lnTo>
                    <a:pt x="295041" y="679636"/>
                  </a:lnTo>
                  <a:lnTo>
                    <a:pt x="341375" y="682752"/>
                  </a:lnTo>
                  <a:lnTo>
                    <a:pt x="6068567" y="682752"/>
                  </a:lnTo>
                  <a:lnTo>
                    <a:pt x="6114902" y="679636"/>
                  </a:lnTo>
                  <a:lnTo>
                    <a:pt x="6159339" y="670561"/>
                  </a:lnTo>
                  <a:lnTo>
                    <a:pt x="6201471" y="655933"/>
                  </a:lnTo>
                  <a:lnTo>
                    <a:pt x="6240892" y="636157"/>
                  </a:lnTo>
                  <a:lnTo>
                    <a:pt x="6277197" y="611639"/>
                  </a:lnTo>
                  <a:lnTo>
                    <a:pt x="6309979" y="582787"/>
                  </a:lnTo>
                  <a:lnTo>
                    <a:pt x="6338831" y="550005"/>
                  </a:lnTo>
                  <a:lnTo>
                    <a:pt x="6363349" y="513700"/>
                  </a:lnTo>
                  <a:lnTo>
                    <a:pt x="6383125" y="474279"/>
                  </a:lnTo>
                  <a:lnTo>
                    <a:pt x="6397753" y="432147"/>
                  </a:lnTo>
                  <a:lnTo>
                    <a:pt x="6406828" y="387710"/>
                  </a:lnTo>
                  <a:lnTo>
                    <a:pt x="6409944" y="341376"/>
                  </a:lnTo>
                  <a:lnTo>
                    <a:pt x="6406828" y="295041"/>
                  </a:lnTo>
                  <a:lnTo>
                    <a:pt x="6397753" y="250604"/>
                  </a:lnTo>
                  <a:lnTo>
                    <a:pt x="6383125" y="208472"/>
                  </a:lnTo>
                  <a:lnTo>
                    <a:pt x="6363349" y="169051"/>
                  </a:lnTo>
                  <a:lnTo>
                    <a:pt x="6338831" y="132746"/>
                  </a:lnTo>
                  <a:lnTo>
                    <a:pt x="6309979" y="99964"/>
                  </a:lnTo>
                  <a:lnTo>
                    <a:pt x="6277197" y="71112"/>
                  </a:lnTo>
                  <a:lnTo>
                    <a:pt x="6240892" y="46594"/>
                  </a:lnTo>
                  <a:lnTo>
                    <a:pt x="6201471" y="26818"/>
                  </a:lnTo>
                  <a:lnTo>
                    <a:pt x="6159339" y="12190"/>
                  </a:lnTo>
                  <a:lnTo>
                    <a:pt x="6114902" y="3115"/>
                  </a:lnTo>
                  <a:lnTo>
                    <a:pt x="6068567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429500" y="4753356"/>
              <a:ext cx="6410325" cy="683260"/>
            </a:xfrm>
            <a:custGeom>
              <a:avLst/>
              <a:gdLst/>
              <a:ahLst/>
              <a:cxnLst/>
              <a:rect l="l" t="t" r="r" b="b"/>
              <a:pathLst>
                <a:path w="6410325" h="683260">
                  <a:moveTo>
                    <a:pt x="0" y="341376"/>
                  </a:moveTo>
                  <a:lnTo>
                    <a:pt x="3115" y="295041"/>
                  </a:lnTo>
                  <a:lnTo>
                    <a:pt x="12190" y="250604"/>
                  </a:lnTo>
                  <a:lnTo>
                    <a:pt x="26818" y="208472"/>
                  </a:lnTo>
                  <a:lnTo>
                    <a:pt x="46594" y="169051"/>
                  </a:lnTo>
                  <a:lnTo>
                    <a:pt x="71112" y="132746"/>
                  </a:lnTo>
                  <a:lnTo>
                    <a:pt x="99964" y="99964"/>
                  </a:lnTo>
                  <a:lnTo>
                    <a:pt x="132746" y="71112"/>
                  </a:lnTo>
                  <a:lnTo>
                    <a:pt x="169051" y="46594"/>
                  </a:lnTo>
                  <a:lnTo>
                    <a:pt x="208472" y="26818"/>
                  </a:lnTo>
                  <a:lnTo>
                    <a:pt x="250604" y="12190"/>
                  </a:lnTo>
                  <a:lnTo>
                    <a:pt x="295041" y="3115"/>
                  </a:lnTo>
                  <a:lnTo>
                    <a:pt x="341375" y="0"/>
                  </a:lnTo>
                  <a:lnTo>
                    <a:pt x="6068567" y="0"/>
                  </a:lnTo>
                  <a:lnTo>
                    <a:pt x="6114902" y="3115"/>
                  </a:lnTo>
                  <a:lnTo>
                    <a:pt x="6159339" y="12190"/>
                  </a:lnTo>
                  <a:lnTo>
                    <a:pt x="6201471" y="26818"/>
                  </a:lnTo>
                  <a:lnTo>
                    <a:pt x="6240892" y="46594"/>
                  </a:lnTo>
                  <a:lnTo>
                    <a:pt x="6277197" y="71112"/>
                  </a:lnTo>
                  <a:lnTo>
                    <a:pt x="6309979" y="99964"/>
                  </a:lnTo>
                  <a:lnTo>
                    <a:pt x="6338831" y="132746"/>
                  </a:lnTo>
                  <a:lnTo>
                    <a:pt x="6363349" y="169051"/>
                  </a:lnTo>
                  <a:lnTo>
                    <a:pt x="6383125" y="208472"/>
                  </a:lnTo>
                  <a:lnTo>
                    <a:pt x="6397753" y="250604"/>
                  </a:lnTo>
                  <a:lnTo>
                    <a:pt x="6406828" y="295041"/>
                  </a:lnTo>
                  <a:lnTo>
                    <a:pt x="6409944" y="341376"/>
                  </a:lnTo>
                  <a:lnTo>
                    <a:pt x="6406828" y="387710"/>
                  </a:lnTo>
                  <a:lnTo>
                    <a:pt x="6397753" y="432147"/>
                  </a:lnTo>
                  <a:lnTo>
                    <a:pt x="6383125" y="474279"/>
                  </a:lnTo>
                  <a:lnTo>
                    <a:pt x="6363349" y="513700"/>
                  </a:lnTo>
                  <a:lnTo>
                    <a:pt x="6338831" y="550005"/>
                  </a:lnTo>
                  <a:lnTo>
                    <a:pt x="6309979" y="582787"/>
                  </a:lnTo>
                  <a:lnTo>
                    <a:pt x="6277197" y="611639"/>
                  </a:lnTo>
                  <a:lnTo>
                    <a:pt x="6240892" y="636157"/>
                  </a:lnTo>
                  <a:lnTo>
                    <a:pt x="6201471" y="655933"/>
                  </a:lnTo>
                  <a:lnTo>
                    <a:pt x="6159339" y="670561"/>
                  </a:lnTo>
                  <a:lnTo>
                    <a:pt x="6114902" y="679636"/>
                  </a:lnTo>
                  <a:lnTo>
                    <a:pt x="6068567" y="682752"/>
                  </a:lnTo>
                  <a:lnTo>
                    <a:pt x="341375" y="682752"/>
                  </a:lnTo>
                  <a:lnTo>
                    <a:pt x="295041" y="679636"/>
                  </a:lnTo>
                  <a:lnTo>
                    <a:pt x="250604" y="670561"/>
                  </a:lnTo>
                  <a:lnTo>
                    <a:pt x="208472" y="655933"/>
                  </a:lnTo>
                  <a:lnTo>
                    <a:pt x="169051" y="636157"/>
                  </a:lnTo>
                  <a:lnTo>
                    <a:pt x="132746" y="611639"/>
                  </a:lnTo>
                  <a:lnTo>
                    <a:pt x="99964" y="582787"/>
                  </a:lnTo>
                  <a:lnTo>
                    <a:pt x="71112" y="550005"/>
                  </a:lnTo>
                  <a:lnTo>
                    <a:pt x="46594" y="513700"/>
                  </a:lnTo>
                  <a:lnTo>
                    <a:pt x="26818" y="474279"/>
                  </a:lnTo>
                  <a:lnTo>
                    <a:pt x="12190" y="432147"/>
                  </a:lnTo>
                  <a:lnTo>
                    <a:pt x="3115" y="387710"/>
                  </a:lnTo>
                  <a:lnTo>
                    <a:pt x="0" y="341376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L="87630">
              <a:lnSpc>
                <a:spcPct val="100000"/>
              </a:lnSpc>
              <a:spcBef>
                <a:spcPts val="90"/>
              </a:spcBef>
            </a:pPr>
            <a:r>
              <a:rPr dirty="0" spc="-50"/>
              <a:t>2</a:t>
            </a:r>
          </a:p>
          <a:p>
            <a:pPr>
              <a:lnSpc>
                <a:spcPct val="100000"/>
              </a:lnSpc>
              <a:spcBef>
                <a:spcPts val="45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65"/>
              <a:t>Forecasting</a:t>
            </a:r>
            <a:r>
              <a:rPr dirty="0" sz="2200" spc="-50"/>
              <a:t> </a:t>
            </a:r>
            <a:r>
              <a:rPr dirty="0" sz="2200" spc="-20"/>
              <a:t>Model</a:t>
            </a:r>
            <a:endParaRPr sz="2200"/>
          </a:p>
          <a:p>
            <a:pPr marL="12700" marR="5080">
              <a:lnSpc>
                <a:spcPct val="140600"/>
              </a:lnSpc>
              <a:spcBef>
                <a:spcPts val="770"/>
              </a:spcBef>
            </a:pPr>
            <a:r>
              <a:rPr dirty="0" sz="1750" b="0">
                <a:latin typeface="Tahoma"/>
                <a:cs typeface="Tahoma"/>
              </a:rPr>
              <a:t>Train</a:t>
            </a:r>
            <a:r>
              <a:rPr dirty="0" sz="1750" spc="-10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ARIMA,</a:t>
            </a:r>
            <a:r>
              <a:rPr dirty="0" sz="1750" spc="-114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Prophet,</a:t>
            </a:r>
            <a:r>
              <a:rPr dirty="0" sz="1750" spc="-9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LSTM,</a:t>
            </a:r>
            <a:r>
              <a:rPr dirty="0" sz="1750" spc="-9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or</a:t>
            </a:r>
            <a:r>
              <a:rPr dirty="0" sz="1750" spc="-7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XGBoost</a:t>
            </a:r>
            <a:r>
              <a:rPr dirty="0" sz="1750" spc="-65" b="0">
                <a:latin typeface="Tahoma"/>
                <a:cs typeface="Tahoma"/>
              </a:rPr>
              <a:t> </a:t>
            </a:r>
            <a:r>
              <a:rPr dirty="0" sz="1750" spc="-25" b="0">
                <a:latin typeface="Tahoma"/>
                <a:cs typeface="Tahoma"/>
              </a:rPr>
              <a:t>models;</a:t>
            </a:r>
            <a:r>
              <a:rPr dirty="0" sz="1750" spc="-114" b="0">
                <a:latin typeface="Tahoma"/>
                <a:cs typeface="Tahoma"/>
              </a:rPr>
              <a:t> </a:t>
            </a:r>
            <a:r>
              <a:rPr dirty="0" sz="1750" spc="-10" b="0">
                <a:latin typeface="Tahoma"/>
                <a:cs typeface="Tahoma"/>
              </a:rPr>
              <a:t>evaluate </a:t>
            </a:r>
            <a:r>
              <a:rPr dirty="0" sz="1750" b="0">
                <a:latin typeface="Tahoma"/>
                <a:cs typeface="Tahoma"/>
              </a:rPr>
              <a:t>and</a:t>
            </a:r>
            <a:r>
              <a:rPr dirty="0" sz="1750" spc="-15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save</a:t>
            </a:r>
            <a:r>
              <a:rPr dirty="0" sz="1750" spc="-130" b="0">
                <a:latin typeface="Tahoma"/>
                <a:cs typeface="Tahoma"/>
              </a:rPr>
              <a:t> </a:t>
            </a:r>
            <a:r>
              <a:rPr dirty="0" sz="1750" spc="-20" b="0">
                <a:latin typeface="Tahoma"/>
                <a:cs typeface="Tahoma"/>
              </a:rPr>
              <a:t>best.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750">
              <a:latin typeface="Tahoma"/>
              <a:cs typeface="Tahoma"/>
            </a:endParaRPr>
          </a:p>
          <a:p>
            <a:pPr algn="ctr" marL="87630">
              <a:lnSpc>
                <a:spcPct val="100000"/>
              </a:lnSpc>
            </a:pPr>
            <a:r>
              <a:rPr dirty="0" spc="-50"/>
              <a:t>4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</a:p>
          <a:p>
            <a:pPr marL="12700">
              <a:lnSpc>
                <a:spcPct val="100000"/>
              </a:lnSpc>
            </a:pPr>
            <a:r>
              <a:rPr dirty="0" sz="2200"/>
              <a:t>Web</a:t>
            </a:r>
            <a:r>
              <a:rPr dirty="0" sz="2200" spc="-150"/>
              <a:t> </a:t>
            </a:r>
            <a:r>
              <a:rPr dirty="0" sz="2200" spc="-20"/>
              <a:t>Interface</a:t>
            </a:r>
            <a:r>
              <a:rPr dirty="0" sz="2200" spc="5"/>
              <a:t> </a:t>
            </a:r>
            <a:r>
              <a:rPr dirty="0" sz="2200"/>
              <a:t>&amp;</a:t>
            </a:r>
            <a:r>
              <a:rPr dirty="0" sz="2200" spc="-130"/>
              <a:t> </a:t>
            </a:r>
            <a:r>
              <a:rPr dirty="0" sz="2200" spc="-70"/>
              <a:t>Admin</a:t>
            </a:r>
            <a:r>
              <a:rPr dirty="0" sz="2200" spc="-165"/>
              <a:t> </a:t>
            </a:r>
            <a:r>
              <a:rPr dirty="0" sz="2200" spc="-10"/>
              <a:t>Panel</a:t>
            </a:r>
            <a:endParaRPr sz="2200"/>
          </a:p>
          <a:p>
            <a:pPr marL="12700" marR="157480">
              <a:lnSpc>
                <a:spcPct val="140600"/>
              </a:lnSpc>
              <a:spcBef>
                <a:spcPts val="775"/>
              </a:spcBef>
            </a:pPr>
            <a:r>
              <a:rPr dirty="0" sz="1750" b="0">
                <a:latin typeface="Tahoma"/>
                <a:cs typeface="Tahoma"/>
              </a:rPr>
              <a:t>Streamlit</a:t>
            </a:r>
            <a:r>
              <a:rPr dirty="0" sz="1750" spc="-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dashboard</a:t>
            </a:r>
            <a:r>
              <a:rPr dirty="0" sz="1750" spc="-5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for</a:t>
            </a:r>
            <a:r>
              <a:rPr dirty="0" sz="1750" spc="-10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visualization,</a:t>
            </a:r>
            <a:r>
              <a:rPr dirty="0" sz="1750" spc="-5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user</a:t>
            </a:r>
            <a:r>
              <a:rPr dirty="0" sz="1750" spc="-5" b="0">
                <a:latin typeface="Tahoma"/>
                <a:cs typeface="Tahoma"/>
              </a:rPr>
              <a:t> </a:t>
            </a:r>
            <a:r>
              <a:rPr dirty="0" sz="1750" b="0">
                <a:latin typeface="Tahoma"/>
                <a:cs typeface="Tahoma"/>
              </a:rPr>
              <a:t>selection,</a:t>
            </a:r>
            <a:r>
              <a:rPr dirty="0" sz="1750" spc="-20" b="0">
                <a:latin typeface="Tahoma"/>
                <a:cs typeface="Tahoma"/>
              </a:rPr>
              <a:t> </a:t>
            </a:r>
            <a:r>
              <a:rPr dirty="0" sz="1750" spc="-25" b="0">
                <a:latin typeface="Tahoma"/>
                <a:cs typeface="Tahoma"/>
              </a:rPr>
              <a:t>and </a:t>
            </a:r>
            <a:r>
              <a:rPr dirty="0" sz="1750" spc="-10" b="0">
                <a:latin typeface="Tahoma"/>
                <a:cs typeface="Tahoma"/>
              </a:rPr>
              <a:t>retraining.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0082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90"/>
              </a:spcBef>
              <a:tabLst>
                <a:tab pos="7590790" algn="l"/>
              </a:tabLst>
            </a:pPr>
            <a:r>
              <a:rPr dirty="0" sz="4450"/>
              <a:t>Evaluation</a:t>
            </a:r>
            <a:r>
              <a:rPr dirty="0" sz="4450" spc="120"/>
              <a:t> </a:t>
            </a:r>
            <a:r>
              <a:rPr dirty="0" sz="4450" spc="80"/>
              <a:t>Criteria:</a:t>
            </a:r>
            <a:r>
              <a:rPr dirty="0" sz="4450" spc="170"/>
              <a:t> </a:t>
            </a:r>
            <a:r>
              <a:rPr dirty="0" sz="4450" spc="180"/>
              <a:t>Proces</a:t>
            </a:r>
            <a:r>
              <a:rPr dirty="0" sz="4450" spc="-565"/>
              <a:t> </a:t>
            </a:r>
            <a:r>
              <a:rPr dirty="0" sz="4450" spc="-50"/>
              <a:t>s</a:t>
            </a:r>
            <a:r>
              <a:rPr dirty="0" sz="4450"/>
              <a:t>	&amp;</a:t>
            </a:r>
            <a:r>
              <a:rPr dirty="0" sz="4450" spc="-35"/>
              <a:t> </a:t>
            </a:r>
            <a:r>
              <a:rPr dirty="0" sz="4450" spc="120"/>
              <a:t>Progres</a:t>
            </a:r>
            <a:r>
              <a:rPr dirty="0" sz="4450" spc="-615"/>
              <a:t> </a:t>
            </a:r>
            <a:r>
              <a:rPr dirty="0" sz="4450" spc="-50"/>
              <a:t>s</a:t>
            </a:r>
            <a:endParaRPr sz="4450"/>
          </a:p>
        </p:txBody>
      </p:sp>
      <p:grpSp>
        <p:nvGrpSpPr>
          <p:cNvPr id="3" name="object 3" descr=""/>
          <p:cNvGrpSpPr/>
          <p:nvPr/>
        </p:nvGrpSpPr>
        <p:grpSpPr>
          <a:xfrm>
            <a:off x="6409944" y="1837753"/>
            <a:ext cx="1167765" cy="5602605"/>
            <a:chOff x="6409944" y="1837753"/>
            <a:chExt cx="1167765" cy="5602605"/>
          </a:xfrm>
        </p:grpSpPr>
        <p:sp>
          <p:nvSpPr>
            <p:cNvPr id="4" name="object 4" descr=""/>
            <p:cNvSpPr/>
            <p:nvPr/>
          </p:nvSpPr>
          <p:spPr>
            <a:xfrm>
              <a:off x="6409944" y="1840991"/>
              <a:ext cx="920750" cy="5599430"/>
            </a:xfrm>
            <a:custGeom>
              <a:avLst/>
              <a:gdLst/>
              <a:ahLst/>
              <a:cxnLst/>
              <a:rect l="l" t="t" r="r" b="b"/>
              <a:pathLst>
                <a:path w="920750" h="5599430">
                  <a:moveTo>
                    <a:pt x="679704" y="244602"/>
                  </a:moveTo>
                  <a:lnTo>
                    <a:pt x="672846" y="237744"/>
                  </a:lnTo>
                  <a:lnTo>
                    <a:pt x="6858" y="237744"/>
                  </a:lnTo>
                  <a:lnTo>
                    <a:pt x="0" y="244602"/>
                  </a:lnTo>
                  <a:lnTo>
                    <a:pt x="0" y="252984"/>
                  </a:lnTo>
                  <a:lnTo>
                    <a:pt x="0" y="261366"/>
                  </a:lnTo>
                  <a:lnTo>
                    <a:pt x="6858" y="268224"/>
                  </a:lnTo>
                  <a:lnTo>
                    <a:pt x="672846" y="268224"/>
                  </a:lnTo>
                  <a:lnTo>
                    <a:pt x="679704" y="261366"/>
                  </a:lnTo>
                  <a:lnTo>
                    <a:pt x="679704" y="244602"/>
                  </a:lnTo>
                  <a:close/>
                </a:path>
                <a:path w="920750" h="5599430">
                  <a:moveTo>
                    <a:pt x="920496" y="6858"/>
                  </a:moveTo>
                  <a:lnTo>
                    <a:pt x="913638" y="0"/>
                  </a:lnTo>
                  <a:lnTo>
                    <a:pt x="896874" y="0"/>
                  </a:lnTo>
                  <a:lnTo>
                    <a:pt x="890016" y="6858"/>
                  </a:lnTo>
                  <a:lnTo>
                    <a:pt x="890016" y="15240"/>
                  </a:lnTo>
                  <a:lnTo>
                    <a:pt x="890016" y="5592356"/>
                  </a:lnTo>
                  <a:lnTo>
                    <a:pt x="896874" y="5599176"/>
                  </a:lnTo>
                  <a:lnTo>
                    <a:pt x="913638" y="5599176"/>
                  </a:lnTo>
                  <a:lnTo>
                    <a:pt x="920496" y="5592356"/>
                  </a:lnTo>
                  <a:lnTo>
                    <a:pt x="920496" y="6858"/>
                  </a:lnTo>
                  <a:close/>
                </a:path>
              </a:pathLst>
            </a:custGeom>
            <a:solidFill>
              <a:srgbClr val="C3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060692" y="1842516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69">
                  <a:moveTo>
                    <a:pt x="417067" y="0"/>
                  </a:moveTo>
                  <a:lnTo>
                    <a:pt x="94996" y="0"/>
                  </a:lnTo>
                  <a:lnTo>
                    <a:pt x="58025" y="7467"/>
                  </a:lnTo>
                  <a:lnTo>
                    <a:pt x="27828" y="27828"/>
                  </a:lnTo>
                  <a:lnTo>
                    <a:pt x="7467" y="58025"/>
                  </a:lnTo>
                  <a:lnTo>
                    <a:pt x="0" y="94996"/>
                  </a:lnTo>
                  <a:lnTo>
                    <a:pt x="0" y="414020"/>
                  </a:lnTo>
                  <a:lnTo>
                    <a:pt x="7467" y="450990"/>
                  </a:lnTo>
                  <a:lnTo>
                    <a:pt x="27828" y="481187"/>
                  </a:lnTo>
                  <a:lnTo>
                    <a:pt x="58025" y="501548"/>
                  </a:lnTo>
                  <a:lnTo>
                    <a:pt x="94996" y="509016"/>
                  </a:lnTo>
                  <a:lnTo>
                    <a:pt x="417067" y="509016"/>
                  </a:lnTo>
                  <a:lnTo>
                    <a:pt x="454038" y="501548"/>
                  </a:lnTo>
                  <a:lnTo>
                    <a:pt x="484235" y="481187"/>
                  </a:lnTo>
                  <a:lnTo>
                    <a:pt x="504596" y="450990"/>
                  </a:lnTo>
                  <a:lnTo>
                    <a:pt x="512063" y="414020"/>
                  </a:lnTo>
                  <a:lnTo>
                    <a:pt x="512063" y="94996"/>
                  </a:lnTo>
                  <a:lnTo>
                    <a:pt x="504596" y="58025"/>
                  </a:lnTo>
                  <a:lnTo>
                    <a:pt x="484235" y="27828"/>
                  </a:lnTo>
                  <a:lnTo>
                    <a:pt x="454038" y="7467"/>
                  </a:lnTo>
                  <a:lnTo>
                    <a:pt x="417067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060692" y="1842516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69">
                  <a:moveTo>
                    <a:pt x="0" y="94996"/>
                  </a:moveTo>
                  <a:lnTo>
                    <a:pt x="7467" y="58025"/>
                  </a:lnTo>
                  <a:lnTo>
                    <a:pt x="27828" y="27828"/>
                  </a:lnTo>
                  <a:lnTo>
                    <a:pt x="58025" y="7467"/>
                  </a:lnTo>
                  <a:lnTo>
                    <a:pt x="94996" y="0"/>
                  </a:lnTo>
                  <a:lnTo>
                    <a:pt x="417067" y="0"/>
                  </a:lnTo>
                  <a:lnTo>
                    <a:pt x="454038" y="7467"/>
                  </a:lnTo>
                  <a:lnTo>
                    <a:pt x="484235" y="27828"/>
                  </a:lnTo>
                  <a:lnTo>
                    <a:pt x="504596" y="58025"/>
                  </a:lnTo>
                  <a:lnTo>
                    <a:pt x="512063" y="94996"/>
                  </a:lnTo>
                  <a:lnTo>
                    <a:pt x="512063" y="414020"/>
                  </a:lnTo>
                  <a:lnTo>
                    <a:pt x="504596" y="450990"/>
                  </a:lnTo>
                  <a:lnTo>
                    <a:pt x="484235" y="481187"/>
                  </a:lnTo>
                  <a:lnTo>
                    <a:pt x="454038" y="501548"/>
                  </a:lnTo>
                  <a:lnTo>
                    <a:pt x="417067" y="509016"/>
                  </a:lnTo>
                  <a:lnTo>
                    <a:pt x="94996" y="509016"/>
                  </a:lnTo>
                  <a:lnTo>
                    <a:pt x="58025" y="501548"/>
                  </a:lnTo>
                  <a:lnTo>
                    <a:pt x="27828" y="481187"/>
                  </a:lnTo>
                  <a:lnTo>
                    <a:pt x="7467" y="450990"/>
                  </a:lnTo>
                  <a:lnTo>
                    <a:pt x="0" y="414020"/>
                  </a:lnTo>
                  <a:lnTo>
                    <a:pt x="0" y="94996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210425" y="1791080"/>
            <a:ext cx="15303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1</a:t>
            </a:r>
            <a:endParaRPr sz="2650">
              <a:latin typeface="Malgun Gothic Semilight"/>
              <a:cs typeface="Malgun Gothic Semi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63600" y="1893569"/>
            <a:ext cx="5329555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31445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Milestone</a:t>
            </a:r>
            <a:r>
              <a:rPr dirty="0" sz="2200" spc="4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1</a:t>
            </a:r>
            <a:endParaRPr sz="2200">
              <a:latin typeface="Malgun Gothic Semilight"/>
              <a:cs typeface="Malgun Gothic Semilight"/>
            </a:endParaRPr>
          </a:p>
          <a:p>
            <a:pPr algn="r" marR="8255">
              <a:lnSpc>
                <a:spcPct val="100000"/>
              </a:lnSpc>
              <a:spcBef>
                <a:spcPts val="162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Cleaned,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structured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dataset;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EDA insights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on</a:t>
            </a:r>
            <a:r>
              <a:rPr dirty="0" sz="175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pollution</a:t>
            </a:r>
            <a:endParaRPr sz="17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85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behavior.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055929" y="3197161"/>
            <a:ext cx="1164590" cy="518795"/>
            <a:chOff x="7055929" y="3197161"/>
            <a:chExt cx="1164590" cy="518795"/>
          </a:xfrm>
        </p:grpSpPr>
        <p:sp>
          <p:nvSpPr>
            <p:cNvPr id="10" name="object 10" descr=""/>
            <p:cNvSpPr/>
            <p:nvPr/>
          </p:nvSpPr>
          <p:spPr>
            <a:xfrm>
              <a:off x="7540752" y="3441191"/>
              <a:ext cx="680085" cy="30480"/>
            </a:xfrm>
            <a:custGeom>
              <a:avLst/>
              <a:gdLst/>
              <a:ahLst/>
              <a:cxnLst/>
              <a:rect l="l" t="t" r="r" b="b"/>
              <a:pathLst>
                <a:path w="680084" h="30479">
                  <a:moveTo>
                    <a:pt x="672846" y="0"/>
                  </a:moveTo>
                  <a:lnTo>
                    <a:pt x="6857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23622"/>
                  </a:lnTo>
                  <a:lnTo>
                    <a:pt x="6857" y="30480"/>
                  </a:lnTo>
                  <a:lnTo>
                    <a:pt x="672846" y="30480"/>
                  </a:lnTo>
                  <a:lnTo>
                    <a:pt x="679703" y="23622"/>
                  </a:lnTo>
                  <a:lnTo>
                    <a:pt x="679703" y="6858"/>
                  </a:lnTo>
                  <a:lnTo>
                    <a:pt x="672846" y="0"/>
                  </a:lnTo>
                  <a:close/>
                </a:path>
              </a:pathLst>
            </a:custGeom>
            <a:solidFill>
              <a:srgbClr val="C3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60692" y="3201923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70">
                  <a:moveTo>
                    <a:pt x="417067" y="0"/>
                  </a:moveTo>
                  <a:lnTo>
                    <a:pt x="94996" y="0"/>
                  </a:lnTo>
                  <a:lnTo>
                    <a:pt x="58025" y="7467"/>
                  </a:lnTo>
                  <a:lnTo>
                    <a:pt x="27828" y="27828"/>
                  </a:lnTo>
                  <a:lnTo>
                    <a:pt x="7467" y="58025"/>
                  </a:lnTo>
                  <a:lnTo>
                    <a:pt x="0" y="94996"/>
                  </a:lnTo>
                  <a:lnTo>
                    <a:pt x="0" y="414020"/>
                  </a:lnTo>
                  <a:lnTo>
                    <a:pt x="7467" y="450990"/>
                  </a:lnTo>
                  <a:lnTo>
                    <a:pt x="27828" y="481187"/>
                  </a:lnTo>
                  <a:lnTo>
                    <a:pt x="58025" y="501548"/>
                  </a:lnTo>
                  <a:lnTo>
                    <a:pt x="94996" y="509015"/>
                  </a:lnTo>
                  <a:lnTo>
                    <a:pt x="417067" y="509015"/>
                  </a:lnTo>
                  <a:lnTo>
                    <a:pt x="454038" y="501548"/>
                  </a:lnTo>
                  <a:lnTo>
                    <a:pt x="484235" y="481187"/>
                  </a:lnTo>
                  <a:lnTo>
                    <a:pt x="504596" y="450990"/>
                  </a:lnTo>
                  <a:lnTo>
                    <a:pt x="512063" y="414020"/>
                  </a:lnTo>
                  <a:lnTo>
                    <a:pt x="512063" y="94996"/>
                  </a:lnTo>
                  <a:lnTo>
                    <a:pt x="504596" y="58025"/>
                  </a:lnTo>
                  <a:lnTo>
                    <a:pt x="484235" y="27828"/>
                  </a:lnTo>
                  <a:lnTo>
                    <a:pt x="454038" y="7467"/>
                  </a:lnTo>
                  <a:lnTo>
                    <a:pt x="417067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060692" y="3201923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70">
                  <a:moveTo>
                    <a:pt x="0" y="94996"/>
                  </a:moveTo>
                  <a:lnTo>
                    <a:pt x="7467" y="58025"/>
                  </a:lnTo>
                  <a:lnTo>
                    <a:pt x="27828" y="27828"/>
                  </a:lnTo>
                  <a:lnTo>
                    <a:pt x="58025" y="7467"/>
                  </a:lnTo>
                  <a:lnTo>
                    <a:pt x="94996" y="0"/>
                  </a:lnTo>
                  <a:lnTo>
                    <a:pt x="417067" y="0"/>
                  </a:lnTo>
                  <a:lnTo>
                    <a:pt x="454038" y="7467"/>
                  </a:lnTo>
                  <a:lnTo>
                    <a:pt x="484235" y="27828"/>
                  </a:lnTo>
                  <a:lnTo>
                    <a:pt x="504596" y="58025"/>
                  </a:lnTo>
                  <a:lnTo>
                    <a:pt x="512063" y="94996"/>
                  </a:lnTo>
                  <a:lnTo>
                    <a:pt x="512063" y="414020"/>
                  </a:lnTo>
                  <a:lnTo>
                    <a:pt x="504596" y="450990"/>
                  </a:lnTo>
                  <a:lnTo>
                    <a:pt x="484235" y="481187"/>
                  </a:lnTo>
                  <a:lnTo>
                    <a:pt x="454038" y="501548"/>
                  </a:lnTo>
                  <a:lnTo>
                    <a:pt x="417067" y="509015"/>
                  </a:lnTo>
                  <a:lnTo>
                    <a:pt x="94996" y="509015"/>
                  </a:lnTo>
                  <a:lnTo>
                    <a:pt x="58025" y="501548"/>
                  </a:lnTo>
                  <a:lnTo>
                    <a:pt x="27828" y="481187"/>
                  </a:lnTo>
                  <a:lnTo>
                    <a:pt x="7467" y="450990"/>
                  </a:lnTo>
                  <a:lnTo>
                    <a:pt x="0" y="414020"/>
                  </a:lnTo>
                  <a:lnTo>
                    <a:pt x="0" y="94996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210425" y="3152394"/>
            <a:ext cx="20574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2</a:t>
            </a:r>
            <a:endParaRPr sz="2650">
              <a:latin typeface="Malgun Gothic Semilight"/>
              <a:cs typeface="Malgun Gothic Semi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438515" y="3254755"/>
            <a:ext cx="4927600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Milestone</a:t>
            </a:r>
            <a:r>
              <a:rPr dirty="0" sz="2200" spc="4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2</a:t>
            </a:r>
            <a:endParaRPr sz="22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40600"/>
              </a:lnSpc>
              <a:spcBef>
                <a:spcPts val="77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Model</a:t>
            </a:r>
            <a:r>
              <a:rPr dirty="0" sz="175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3A4E4E"/>
                </a:solidFill>
                <a:latin typeface="Tahoma"/>
                <a:cs typeface="Tahoma"/>
              </a:rPr>
              <a:t>RMSE/MAE</a:t>
            </a:r>
            <a:r>
              <a:rPr dirty="0" sz="1750" spc="-1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within</a:t>
            </a:r>
            <a:r>
              <a:rPr dirty="0" sz="1750" spc="-5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acceptable</a:t>
            </a:r>
            <a:r>
              <a:rPr dirty="0" sz="175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limits;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tested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across</a:t>
            </a:r>
            <a:r>
              <a:rPr dirty="0" sz="1750" spc="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pollutants.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409944" y="4370641"/>
            <a:ext cx="1167765" cy="518795"/>
            <a:chOff x="6409944" y="4370641"/>
            <a:chExt cx="1167765" cy="518795"/>
          </a:xfrm>
        </p:grpSpPr>
        <p:sp>
          <p:nvSpPr>
            <p:cNvPr id="16" name="object 16" descr=""/>
            <p:cNvSpPr/>
            <p:nvPr/>
          </p:nvSpPr>
          <p:spPr>
            <a:xfrm>
              <a:off x="6409944" y="4614671"/>
              <a:ext cx="680085" cy="30480"/>
            </a:xfrm>
            <a:custGeom>
              <a:avLst/>
              <a:gdLst/>
              <a:ahLst/>
              <a:cxnLst/>
              <a:rect l="l" t="t" r="r" b="b"/>
              <a:pathLst>
                <a:path w="680084" h="30479">
                  <a:moveTo>
                    <a:pt x="672846" y="0"/>
                  </a:moveTo>
                  <a:lnTo>
                    <a:pt x="6857" y="0"/>
                  </a:lnTo>
                  <a:lnTo>
                    <a:pt x="0" y="6857"/>
                  </a:lnTo>
                  <a:lnTo>
                    <a:pt x="0" y="15239"/>
                  </a:lnTo>
                  <a:lnTo>
                    <a:pt x="0" y="23622"/>
                  </a:lnTo>
                  <a:lnTo>
                    <a:pt x="6857" y="30479"/>
                  </a:lnTo>
                  <a:lnTo>
                    <a:pt x="672846" y="30479"/>
                  </a:lnTo>
                  <a:lnTo>
                    <a:pt x="679703" y="23622"/>
                  </a:lnTo>
                  <a:lnTo>
                    <a:pt x="679703" y="6857"/>
                  </a:lnTo>
                  <a:lnTo>
                    <a:pt x="672846" y="0"/>
                  </a:lnTo>
                  <a:close/>
                </a:path>
              </a:pathLst>
            </a:custGeom>
            <a:solidFill>
              <a:srgbClr val="C3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060692" y="4375403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70">
                  <a:moveTo>
                    <a:pt x="417067" y="0"/>
                  </a:moveTo>
                  <a:lnTo>
                    <a:pt x="94996" y="0"/>
                  </a:lnTo>
                  <a:lnTo>
                    <a:pt x="58025" y="7467"/>
                  </a:lnTo>
                  <a:lnTo>
                    <a:pt x="27828" y="27828"/>
                  </a:lnTo>
                  <a:lnTo>
                    <a:pt x="7467" y="58025"/>
                  </a:lnTo>
                  <a:lnTo>
                    <a:pt x="0" y="94996"/>
                  </a:lnTo>
                  <a:lnTo>
                    <a:pt x="0" y="414020"/>
                  </a:lnTo>
                  <a:lnTo>
                    <a:pt x="7467" y="450990"/>
                  </a:lnTo>
                  <a:lnTo>
                    <a:pt x="27828" y="481187"/>
                  </a:lnTo>
                  <a:lnTo>
                    <a:pt x="58025" y="501548"/>
                  </a:lnTo>
                  <a:lnTo>
                    <a:pt x="94996" y="509016"/>
                  </a:lnTo>
                  <a:lnTo>
                    <a:pt x="417067" y="509016"/>
                  </a:lnTo>
                  <a:lnTo>
                    <a:pt x="454038" y="501548"/>
                  </a:lnTo>
                  <a:lnTo>
                    <a:pt x="484235" y="481187"/>
                  </a:lnTo>
                  <a:lnTo>
                    <a:pt x="504596" y="450990"/>
                  </a:lnTo>
                  <a:lnTo>
                    <a:pt x="512063" y="414020"/>
                  </a:lnTo>
                  <a:lnTo>
                    <a:pt x="512063" y="94996"/>
                  </a:lnTo>
                  <a:lnTo>
                    <a:pt x="504596" y="58025"/>
                  </a:lnTo>
                  <a:lnTo>
                    <a:pt x="484235" y="27828"/>
                  </a:lnTo>
                  <a:lnTo>
                    <a:pt x="454038" y="7467"/>
                  </a:lnTo>
                  <a:lnTo>
                    <a:pt x="417067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60692" y="4375403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70">
                  <a:moveTo>
                    <a:pt x="0" y="94996"/>
                  </a:moveTo>
                  <a:lnTo>
                    <a:pt x="7467" y="58025"/>
                  </a:lnTo>
                  <a:lnTo>
                    <a:pt x="27828" y="27828"/>
                  </a:lnTo>
                  <a:lnTo>
                    <a:pt x="58025" y="7467"/>
                  </a:lnTo>
                  <a:lnTo>
                    <a:pt x="94996" y="0"/>
                  </a:lnTo>
                  <a:lnTo>
                    <a:pt x="417067" y="0"/>
                  </a:lnTo>
                  <a:lnTo>
                    <a:pt x="454038" y="7467"/>
                  </a:lnTo>
                  <a:lnTo>
                    <a:pt x="484235" y="27828"/>
                  </a:lnTo>
                  <a:lnTo>
                    <a:pt x="504596" y="58025"/>
                  </a:lnTo>
                  <a:lnTo>
                    <a:pt x="512063" y="94996"/>
                  </a:lnTo>
                  <a:lnTo>
                    <a:pt x="512063" y="414020"/>
                  </a:lnTo>
                  <a:lnTo>
                    <a:pt x="504596" y="450990"/>
                  </a:lnTo>
                  <a:lnTo>
                    <a:pt x="484235" y="481187"/>
                  </a:lnTo>
                  <a:lnTo>
                    <a:pt x="454038" y="501548"/>
                  </a:lnTo>
                  <a:lnTo>
                    <a:pt x="417067" y="509016"/>
                  </a:lnTo>
                  <a:lnTo>
                    <a:pt x="94996" y="509016"/>
                  </a:lnTo>
                  <a:lnTo>
                    <a:pt x="58025" y="501548"/>
                  </a:lnTo>
                  <a:lnTo>
                    <a:pt x="27828" y="481187"/>
                  </a:lnTo>
                  <a:lnTo>
                    <a:pt x="7467" y="450990"/>
                  </a:lnTo>
                  <a:lnTo>
                    <a:pt x="0" y="414020"/>
                  </a:lnTo>
                  <a:lnTo>
                    <a:pt x="0" y="94996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210425" y="4325873"/>
            <a:ext cx="20574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3</a:t>
            </a:r>
            <a:endParaRPr sz="2650">
              <a:latin typeface="Malgun Gothic Semilight"/>
              <a:cs typeface="Malgun Gothic Semiligh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42847" y="4428236"/>
            <a:ext cx="5250815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8763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Milestone</a:t>
            </a:r>
            <a:r>
              <a:rPr dirty="0" sz="2200" spc="4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3</a:t>
            </a:r>
            <a:endParaRPr sz="2200">
              <a:latin typeface="Malgun Gothic Semilight"/>
              <a:cs typeface="Malgun Gothic Semilight"/>
            </a:endParaRPr>
          </a:p>
          <a:p>
            <a:pPr algn="r" marR="5080">
              <a:lnSpc>
                <a:spcPct val="100000"/>
              </a:lnSpc>
              <a:spcBef>
                <a:spcPts val="162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Functional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alerting</a:t>
            </a:r>
            <a:r>
              <a:rPr dirty="0" sz="1750" spc="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mechanism;</a:t>
            </a:r>
            <a:r>
              <a:rPr dirty="0" sz="175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clear</a:t>
            </a:r>
            <a:r>
              <a:rPr dirty="0" sz="1750" spc="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high-risk</a:t>
            </a:r>
            <a:r>
              <a:rPr dirty="0" sz="1750" spc="2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period</a:t>
            </a:r>
            <a:endParaRPr sz="17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85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reports.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056119" y="5544311"/>
            <a:ext cx="1164590" cy="518159"/>
            <a:chOff x="7056119" y="5544311"/>
            <a:chExt cx="1164590" cy="518159"/>
          </a:xfrm>
        </p:grpSpPr>
        <p:sp>
          <p:nvSpPr>
            <p:cNvPr id="22" name="object 22" descr=""/>
            <p:cNvSpPr/>
            <p:nvPr/>
          </p:nvSpPr>
          <p:spPr>
            <a:xfrm>
              <a:off x="7540751" y="5785103"/>
              <a:ext cx="680085" cy="30480"/>
            </a:xfrm>
            <a:custGeom>
              <a:avLst/>
              <a:gdLst/>
              <a:ahLst/>
              <a:cxnLst/>
              <a:rect l="l" t="t" r="r" b="b"/>
              <a:pathLst>
                <a:path w="680084" h="30479">
                  <a:moveTo>
                    <a:pt x="672846" y="0"/>
                  </a:moveTo>
                  <a:lnTo>
                    <a:pt x="6857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23622"/>
                  </a:lnTo>
                  <a:lnTo>
                    <a:pt x="6857" y="30480"/>
                  </a:lnTo>
                  <a:lnTo>
                    <a:pt x="672846" y="30480"/>
                  </a:lnTo>
                  <a:lnTo>
                    <a:pt x="679703" y="23622"/>
                  </a:lnTo>
                  <a:lnTo>
                    <a:pt x="679703" y="6858"/>
                  </a:lnTo>
                  <a:lnTo>
                    <a:pt x="672846" y="0"/>
                  </a:lnTo>
                  <a:close/>
                </a:path>
              </a:pathLst>
            </a:custGeom>
            <a:solidFill>
              <a:srgbClr val="C3D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060691" y="5548883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70">
                  <a:moveTo>
                    <a:pt x="417067" y="0"/>
                  </a:moveTo>
                  <a:lnTo>
                    <a:pt x="94996" y="0"/>
                  </a:lnTo>
                  <a:lnTo>
                    <a:pt x="58025" y="7467"/>
                  </a:lnTo>
                  <a:lnTo>
                    <a:pt x="27828" y="27828"/>
                  </a:lnTo>
                  <a:lnTo>
                    <a:pt x="7467" y="58025"/>
                  </a:lnTo>
                  <a:lnTo>
                    <a:pt x="0" y="94996"/>
                  </a:lnTo>
                  <a:lnTo>
                    <a:pt x="0" y="414020"/>
                  </a:lnTo>
                  <a:lnTo>
                    <a:pt x="7467" y="450990"/>
                  </a:lnTo>
                  <a:lnTo>
                    <a:pt x="27828" y="481187"/>
                  </a:lnTo>
                  <a:lnTo>
                    <a:pt x="58025" y="501548"/>
                  </a:lnTo>
                  <a:lnTo>
                    <a:pt x="94996" y="509016"/>
                  </a:lnTo>
                  <a:lnTo>
                    <a:pt x="417067" y="509016"/>
                  </a:lnTo>
                  <a:lnTo>
                    <a:pt x="454038" y="501548"/>
                  </a:lnTo>
                  <a:lnTo>
                    <a:pt x="484235" y="481187"/>
                  </a:lnTo>
                  <a:lnTo>
                    <a:pt x="504596" y="450990"/>
                  </a:lnTo>
                  <a:lnTo>
                    <a:pt x="512063" y="414020"/>
                  </a:lnTo>
                  <a:lnTo>
                    <a:pt x="512063" y="94996"/>
                  </a:lnTo>
                  <a:lnTo>
                    <a:pt x="504596" y="58025"/>
                  </a:lnTo>
                  <a:lnTo>
                    <a:pt x="484235" y="27828"/>
                  </a:lnTo>
                  <a:lnTo>
                    <a:pt x="454038" y="7467"/>
                  </a:lnTo>
                  <a:lnTo>
                    <a:pt x="417067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060691" y="5548883"/>
              <a:ext cx="512445" cy="509270"/>
            </a:xfrm>
            <a:custGeom>
              <a:avLst/>
              <a:gdLst/>
              <a:ahLst/>
              <a:cxnLst/>
              <a:rect l="l" t="t" r="r" b="b"/>
              <a:pathLst>
                <a:path w="512445" h="509270">
                  <a:moveTo>
                    <a:pt x="0" y="94996"/>
                  </a:moveTo>
                  <a:lnTo>
                    <a:pt x="7467" y="58025"/>
                  </a:lnTo>
                  <a:lnTo>
                    <a:pt x="27828" y="27828"/>
                  </a:lnTo>
                  <a:lnTo>
                    <a:pt x="58025" y="7467"/>
                  </a:lnTo>
                  <a:lnTo>
                    <a:pt x="94996" y="0"/>
                  </a:lnTo>
                  <a:lnTo>
                    <a:pt x="417067" y="0"/>
                  </a:lnTo>
                  <a:lnTo>
                    <a:pt x="454038" y="7467"/>
                  </a:lnTo>
                  <a:lnTo>
                    <a:pt x="484235" y="27828"/>
                  </a:lnTo>
                  <a:lnTo>
                    <a:pt x="504596" y="58025"/>
                  </a:lnTo>
                  <a:lnTo>
                    <a:pt x="512063" y="94996"/>
                  </a:lnTo>
                  <a:lnTo>
                    <a:pt x="512063" y="414020"/>
                  </a:lnTo>
                  <a:lnTo>
                    <a:pt x="504596" y="450990"/>
                  </a:lnTo>
                  <a:lnTo>
                    <a:pt x="484235" y="481187"/>
                  </a:lnTo>
                  <a:lnTo>
                    <a:pt x="454038" y="501548"/>
                  </a:lnTo>
                  <a:lnTo>
                    <a:pt x="417067" y="509016"/>
                  </a:lnTo>
                  <a:lnTo>
                    <a:pt x="94996" y="509016"/>
                  </a:lnTo>
                  <a:lnTo>
                    <a:pt x="58025" y="501548"/>
                  </a:lnTo>
                  <a:lnTo>
                    <a:pt x="27828" y="481187"/>
                  </a:lnTo>
                  <a:lnTo>
                    <a:pt x="7467" y="450990"/>
                  </a:lnTo>
                  <a:lnTo>
                    <a:pt x="0" y="414020"/>
                  </a:lnTo>
                  <a:lnTo>
                    <a:pt x="0" y="94996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210425" y="5499353"/>
            <a:ext cx="21272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4</a:t>
            </a:r>
            <a:endParaRPr sz="2650">
              <a:latin typeface="Malgun Gothic Semilight"/>
              <a:cs typeface="Malgun Gothic Semiligh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38515" y="5601716"/>
            <a:ext cx="4559935" cy="1210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3A4E4E"/>
                </a:solidFill>
                <a:latin typeface="Malgun Gothic Semilight"/>
                <a:cs typeface="Malgun Gothic Semilight"/>
              </a:rPr>
              <a:t>Milestone</a:t>
            </a:r>
            <a:r>
              <a:rPr dirty="0" sz="2200" spc="480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00" spc="-50">
                <a:solidFill>
                  <a:srgbClr val="3A4E4E"/>
                </a:solidFill>
                <a:latin typeface="Malgun Gothic Semilight"/>
                <a:cs typeface="Malgun Gothic Semilight"/>
              </a:rPr>
              <a:t>4</a:t>
            </a:r>
            <a:endParaRPr sz="22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Deployed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Streamlit</a:t>
            </a:r>
            <a:r>
              <a:rPr dirty="0" sz="175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3A4E4E"/>
                </a:solidFill>
                <a:latin typeface="Tahoma"/>
                <a:cs typeface="Tahoma"/>
              </a:rPr>
              <a:t>dashboard;</a:t>
            </a:r>
            <a:r>
              <a:rPr dirty="0" sz="175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working</a:t>
            </a:r>
            <a:r>
              <a:rPr dirty="0" sz="175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admin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features.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074165"/>
            <a:ext cx="10326370" cy="7023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50" spc="-45" b="1">
                <a:latin typeface="Arial"/>
                <a:cs typeface="Arial"/>
              </a:rPr>
              <a:t>Milestone</a:t>
            </a:r>
            <a:r>
              <a:rPr dirty="0" sz="4450" spc="-204" b="1">
                <a:latin typeface="Arial"/>
                <a:cs typeface="Arial"/>
              </a:rPr>
              <a:t> </a:t>
            </a:r>
            <a:r>
              <a:rPr dirty="0" sz="4450" spc="-620" b="1">
                <a:latin typeface="Arial"/>
                <a:cs typeface="Arial"/>
              </a:rPr>
              <a:t>1</a:t>
            </a:r>
            <a:r>
              <a:rPr dirty="0" sz="4450" spc="-15" b="1">
                <a:latin typeface="Arial"/>
                <a:cs typeface="Arial"/>
              </a:rPr>
              <a:t>:</a:t>
            </a:r>
            <a:r>
              <a:rPr dirty="0" sz="4450" spc="10" b="1">
                <a:latin typeface="Arial"/>
                <a:cs typeface="Arial"/>
              </a:rPr>
              <a:t> </a:t>
            </a:r>
            <a:r>
              <a:rPr dirty="0" sz="4450" spc="-80" b="1">
                <a:latin typeface="Arial"/>
                <a:cs typeface="Arial"/>
              </a:rPr>
              <a:t>Data</a:t>
            </a:r>
            <a:r>
              <a:rPr dirty="0" sz="4450" spc="-235" b="1">
                <a:latin typeface="Arial"/>
                <a:cs typeface="Arial"/>
              </a:rPr>
              <a:t> </a:t>
            </a:r>
            <a:r>
              <a:rPr dirty="0" sz="4450" spc="-50" b="1">
                <a:latin typeface="Arial"/>
                <a:cs typeface="Arial"/>
              </a:rPr>
              <a:t>Preprocessing</a:t>
            </a:r>
            <a:r>
              <a:rPr dirty="0" sz="4450" spc="-135" b="1">
                <a:latin typeface="Arial"/>
                <a:cs typeface="Arial"/>
              </a:rPr>
              <a:t> </a:t>
            </a:r>
            <a:r>
              <a:rPr dirty="0" sz="4450" b="1">
                <a:latin typeface="Arial"/>
                <a:cs typeface="Arial"/>
              </a:rPr>
              <a:t>&amp;</a:t>
            </a:r>
            <a:r>
              <a:rPr dirty="0" sz="4450" spc="-310" b="1">
                <a:latin typeface="Arial"/>
                <a:cs typeface="Arial"/>
              </a:rPr>
              <a:t> </a:t>
            </a:r>
            <a:r>
              <a:rPr dirty="0" sz="4450" spc="-25" b="1">
                <a:latin typeface="Arial"/>
                <a:cs typeface="Arial"/>
              </a:rPr>
              <a:t>EDA</a:t>
            </a:r>
            <a:endParaRPr sz="44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77240" y="3697223"/>
            <a:ext cx="7635240" cy="1490980"/>
            <a:chOff x="777240" y="3697223"/>
            <a:chExt cx="7635240" cy="1490980"/>
          </a:xfrm>
        </p:grpSpPr>
        <p:sp>
          <p:nvSpPr>
            <p:cNvPr id="4" name="object 4" descr=""/>
            <p:cNvSpPr/>
            <p:nvPr/>
          </p:nvSpPr>
          <p:spPr>
            <a:xfrm>
              <a:off x="792480" y="3712463"/>
              <a:ext cx="7604759" cy="1460500"/>
            </a:xfrm>
            <a:custGeom>
              <a:avLst/>
              <a:gdLst/>
              <a:ahLst/>
              <a:cxnLst/>
              <a:rect l="l" t="t" r="r" b="b"/>
              <a:pathLst>
                <a:path w="7604759" h="1460500">
                  <a:moveTo>
                    <a:pt x="7509383" y="0"/>
                  </a:moveTo>
                  <a:lnTo>
                    <a:pt x="95351" y="0"/>
                  </a:lnTo>
                  <a:lnTo>
                    <a:pt x="58234" y="7491"/>
                  </a:lnTo>
                  <a:lnTo>
                    <a:pt x="27925" y="27924"/>
                  </a:lnTo>
                  <a:lnTo>
                    <a:pt x="7492" y="58239"/>
                  </a:lnTo>
                  <a:lnTo>
                    <a:pt x="0" y="95376"/>
                  </a:lnTo>
                  <a:lnTo>
                    <a:pt x="0" y="1364615"/>
                  </a:lnTo>
                  <a:lnTo>
                    <a:pt x="7492" y="1401752"/>
                  </a:lnTo>
                  <a:lnTo>
                    <a:pt x="27925" y="1432067"/>
                  </a:lnTo>
                  <a:lnTo>
                    <a:pt x="58234" y="1452500"/>
                  </a:lnTo>
                  <a:lnTo>
                    <a:pt x="95351" y="1459992"/>
                  </a:lnTo>
                  <a:lnTo>
                    <a:pt x="7509383" y="1459992"/>
                  </a:lnTo>
                  <a:lnTo>
                    <a:pt x="7546520" y="1452500"/>
                  </a:lnTo>
                  <a:lnTo>
                    <a:pt x="7576835" y="1432067"/>
                  </a:lnTo>
                  <a:lnTo>
                    <a:pt x="7597268" y="1401752"/>
                  </a:lnTo>
                  <a:lnTo>
                    <a:pt x="7604760" y="1364615"/>
                  </a:lnTo>
                  <a:lnTo>
                    <a:pt x="7604760" y="95376"/>
                  </a:lnTo>
                  <a:lnTo>
                    <a:pt x="7597268" y="58239"/>
                  </a:lnTo>
                  <a:lnTo>
                    <a:pt x="7576835" y="27924"/>
                  </a:lnTo>
                  <a:lnTo>
                    <a:pt x="7546520" y="7491"/>
                  </a:lnTo>
                  <a:lnTo>
                    <a:pt x="7509383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2480" y="3712463"/>
              <a:ext cx="7604759" cy="1460500"/>
            </a:xfrm>
            <a:custGeom>
              <a:avLst/>
              <a:gdLst/>
              <a:ahLst/>
              <a:cxnLst/>
              <a:rect l="l" t="t" r="r" b="b"/>
              <a:pathLst>
                <a:path w="7604759" h="1460500">
                  <a:moveTo>
                    <a:pt x="0" y="95376"/>
                  </a:moveTo>
                  <a:lnTo>
                    <a:pt x="7492" y="58239"/>
                  </a:lnTo>
                  <a:lnTo>
                    <a:pt x="27925" y="27924"/>
                  </a:lnTo>
                  <a:lnTo>
                    <a:pt x="58234" y="7491"/>
                  </a:lnTo>
                  <a:lnTo>
                    <a:pt x="95351" y="0"/>
                  </a:lnTo>
                  <a:lnTo>
                    <a:pt x="7509383" y="0"/>
                  </a:lnTo>
                  <a:lnTo>
                    <a:pt x="7546520" y="7491"/>
                  </a:lnTo>
                  <a:lnTo>
                    <a:pt x="7576835" y="27924"/>
                  </a:lnTo>
                  <a:lnTo>
                    <a:pt x="7597268" y="58239"/>
                  </a:lnTo>
                  <a:lnTo>
                    <a:pt x="7604760" y="95376"/>
                  </a:lnTo>
                  <a:lnTo>
                    <a:pt x="7604760" y="1364615"/>
                  </a:lnTo>
                  <a:lnTo>
                    <a:pt x="7597268" y="1401752"/>
                  </a:lnTo>
                  <a:lnTo>
                    <a:pt x="7576835" y="1432067"/>
                  </a:lnTo>
                  <a:lnTo>
                    <a:pt x="7546520" y="1452500"/>
                  </a:lnTo>
                  <a:lnTo>
                    <a:pt x="7509383" y="1459992"/>
                  </a:lnTo>
                  <a:lnTo>
                    <a:pt x="95351" y="1459992"/>
                  </a:lnTo>
                  <a:lnTo>
                    <a:pt x="58234" y="1452500"/>
                  </a:lnTo>
                  <a:lnTo>
                    <a:pt x="27925" y="1432067"/>
                  </a:lnTo>
                  <a:lnTo>
                    <a:pt x="7492" y="1401752"/>
                  </a:lnTo>
                  <a:lnTo>
                    <a:pt x="0" y="1364615"/>
                  </a:lnTo>
                  <a:lnTo>
                    <a:pt x="0" y="95376"/>
                  </a:lnTo>
                  <a:close/>
                </a:path>
              </a:pathLst>
            </a:custGeom>
            <a:ln w="30480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37465">
              <a:lnSpc>
                <a:spcPct val="139500"/>
              </a:lnSpc>
              <a:spcBef>
                <a:spcPts val="75"/>
              </a:spcBef>
            </a:pPr>
            <a:r>
              <a:rPr dirty="0" spc="-10"/>
              <a:t>Download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preprocess</a:t>
            </a:r>
            <a:r>
              <a:rPr dirty="0" spc="15"/>
              <a:t> </a:t>
            </a:r>
            <a:r>
              <a:rPr dirty="0"/>
              <a:t>air</a:t>
            </a:r>
            <a:r>
              <a:rPr dirty="0" spc="-5"/>
              <a:t> </a:t>
            </a:r>
            <a:r>
              <a:rPr dirty="0"/>
              <a:t>quality</a:t>
            </a:r>
            <a:r>
              <a:rPr dirty="0" spc="-10"/>
              <a:t> </a:t>
            </a:r>
            <a:r>
              <a:rPr dirty="0"/>
              <a:t>datasets.</a:t>
            </a:r>
            <a:r>
              <a:rPr dirty="0" spc="-55"/>
              <a:t> </a:t>
            </a:r>
            <a:r>
              <a:rPr dirty="0"/>
              <a:t>Conduct</a:t>
            </a:r>
            <a:r>
              <a:rPr dirty="0" spc="-30"/>
              <a:t> </a:t>
            </a:r>
            <a:r>
              <a:rPr dirty="0"/>
              <a:t>Exploratory</a:t>
            </a:r>
            <a:r>
              <a:rPr dirty="0" spc="5"/>
              <a:t> </a:t>
            </a:r>
            <a:r>
              <a:rPr dirty="0" spc="-20"/>
              <a:t>Data </a:t>
            </a:r>
            <a:r>
              <a:rPr dirty="0"/>
              <a:t>Analysis</a:t>
            </a:r>
            <a:r>
              <a:rPr dirty="0" spc="-55"/>
              <a:t> </a:t>
            </a:r>
            <a:r>
              <a:rPr dirty="0"/>
              <a:t>to understand</a:t>
            </a:r>
            <a:r>
              <a:rPr dirty="0" spc="-55"/>
              <a:t> </a:t>
            </a:r>
            <a:r>
              <a:rPr dirty="0"/>
              <a:t>pollutant</a:t>
            </a:r>
            <a:r>
              <a:rPr dirty="0" spc="-25"/>
              <a:t> </a:t>
            </a:r>
            <a:r>
              <a:rPr dirty="0"/>
              <a:t>trends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correlations.</a:t>
            </a:r>
            <a:r>
              <a:rPr dirty="0" spc="-10"/>
              <a:t> </a:t>
            </a:r>
            <a:r>
              <a:rPr dirty="0"/>
              <a:t>Resample</a:t>
            </a:r>
            <a:r>
              <a:rPr dirty="0" spc="-10"/>
              <a:t> </a:t>
            </a:r>
            <a:r>
              <a:rPr dirty="0"/>
              <a:t>data</a:t>
            </a:r>
            <a:r>
              <a:rPr dirty="0" spc="-5"/>
              <a:t> </a:t>
            </a:r>
            <a:r>
              <a:rPr dirty="0" spc="-25"/>
              <a:t>and </a:t>
            </a:r>
            <a:r>
              <a:rPr dirty="0"/>
              <a:t>prepare</a:t>
            </a:r>
            <a:r>
              <a:rPr dirty="0" spc="-25"/>
              <a:t> </a:t>
            </a:r>
            <a:r>
              <a:rPr dirty="0"/>
              <a:t>features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 spc="-10"/>
              <a:t>forecasting.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25"/>
              </a:spcBef>
            </a:pPr>
          </a:p>
          <a:p>
            <a:pPr marL="269875">
              <a:lnSpc>
                <a:spcPct val="100000"/>
              </a:lnSpc>
            </a:pPr>
            <a:r>
              <a:rPr dirty="0" sz="2200" spc="-60" b="1">
                <a:latin typeface="Arial"/>
                <a:cs typeface="Arial"/>
              </a:rPr>
              <a:t>Clean</a:t>
            </a:r>
            <a:r>
              <a:rPr dirty="0" sz="2200" spc="-70" b="1">
                <a:latin typeface="Arial"/>
                <a:cs typeface="Arial"/>
              </a:rPr>
              <a:t> </a:t>
            </a:r>
            <a:r>
              <a:rPr dirty="0" sz="2200" spc="-20" b="1"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spcBef>
                <a:spcPts val="2385"/>
              </a:spcBef>
            </a:pPr>
            <a:r>
              <a:rPr dirty="0"/>
              <a:t>Ensure</a:t>
            </a:r>
            <a:r>
              <a:rPr dirty="0" spc="-45"/>
              <a:t> </a:t>
            </a:r>
            <a:r>
              <a:rPr dirty="0"/>
              <a:t>dataset</a:t>
            </a:r>
            <a:r>
              <a:rPr dirty="0" spc="-20"/>
              <a:t> </a:t>
            </a:r>
            <a:r>
              <a:rPr dirty="0"/>
              <a:t>readiness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 spc="-10"/>
              <a:t>modeling.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777240" y="5382767"/>
            <a:ext cx="7635240" cy="1490980"/>
            <a:chOff x="777240" y="5382767"/>
            <a:chExt cx="7635240" cy="1490980"/>
          </a:xfrm>
        </p:grpSpPr>
        <p:sp>
          <p:nvSpPr>
            <p:cNvPr id="8" name="object 8" descr=""/>
            <p:cNvSpPr/>
            <p:nvPr/>
          </p:nvSpPr>
          <p:spPr>
            <a:xfrm>
              <a:off x="792480" y="5398007"/>
              <a:ext cx="7604759" cy="1460500"/>
            </a:xfrm>
            <a:custGeom>
              <a:avLst/>
              <a:gdLst/>
              <a:ahLst/>
              <a:cxnLst/>
              <a:rect l="l" t="t" r="r" b="b"/>
              <a:pathLst>
                <a:path w="7604759" h="1460500">
                  <a:moveTo>
                    <a:pt x="7509383" y="0"/>
                  </a:moveTo>
                  <a:lnTo>
                    <a:pt x="95351" y="0"/>
                  </a:lnTo>
                  <a:lnTo>
                    <a:pt x="58234" y="7491"/>
                  </a:lnTo>
                  <a:lnTo>
                    <a:pt x="27925" y="27924"/>
                  </a:lnTo>
                  <a:lnTo>
                    <a:pt x="7492" y="58239"/>
                  </a:lnTo>
                  <a:lnTo>
                    <a:pt x="0" y="95377"/>
                  </a:lnTo>
                  <a:lnTo>
                    <a:pt x="0" y="1364615"/>
                  </a:lnTo>
                  <a:lnTo>
                    <a:pt x="7492" y="1401752"/>
                  </a:lnTo>
                  <a:lnTo>
                    <a:pt x="27925" y="1432067"/>
                  </a:lnTo>
                  <a:lnTo>
                    <a:pt x="58234" y="1452500"/>
                  </a:lnTo>
                  <a:lnTo>
                    <a:pt x="95351" y="1459992"/>
                  </a:lnTo>
                  <a:lnTo>
                    <a:pt x="7509383" y="1459992"/>
                  </a:lnTo>
                  <a:lnTo>
                    <a:pt x="7546520" y="1452500"/>
                  </a:lnTo>
                  <a:lnTo>
                    <a:pt x="7576835" y="1432067"/>
                  </a:lnTo>
                  <a:lnTo>
                    <a:pt x="7597268" y="1401752"/>
                  </a:lnTo>
                  <a:lnTo>
                    <a:pt x="7604760" y="1364615"/>
                  </a:lnTo>
                  <a:lnTo>
                    <a:pt x="7604760" y="95377"/>
                  </a:lnTo>
                  <a:lnTo>
                    <a:pt x="7597268" y="58239"/>
                  </a:lnTo>
                  <a:lnTo>
                    <a:pt x="7576835" y="27924"/>
                  </a:lnTo>
                  <a:lnTo>
                    <a:pt x="7546520" y="7491"/>
                  </a:lnTo>
                  <a:lnTo>
                    <a:pt x="7509383" y="0"/>
                  </a:lnTo>
                  <a:close/>
                </a:path>
              </a:pathLst>
            </a:custGeom>
            <a:solidFill>
              <a:srgbClr val="FFF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92480" y="5398007"/>
              <a:ext cx="7604759" cy="1460500"/>
            </a:xfrm>
            <a:custGeom>
              <a:avLst/>
              <a:gdLst/>
              <a:ahLst/>
              <a:cxnLst/>
              <a:rect l="l" t="t" r="r" b="b"/>
              <a:pathLst>
                <a:path w="7604759" h="1460500">
                  <a:moveTo>
                    <a:pt x="0" y="95377"/>
                  </a:moveTo>
                  <a:lnTo>
                    <a:pt x="7492" y="58239"/>
                  </a:lnTo>
                  <a:lnTo>
                    <a:pt x="27925" y="27924"/>
                  </a:lnTo>
                  <a:lnTo>
                    <a:pt x="58234" y="7491"/>
                  </a:lnTo>
                  <a:lnTo>
                    <a:pt x="95351" y="0"/>
                  </a:lnTo>
                  <a:lnTo>
                    <a:pt x="7509383" y="0"/>
                  </a:lnTo>
                  <a:lnTo>
                    <a:pt x="7546520" y="7491"/>
                  </a:lnTo>
                  <a:lnTo>
                    <a:pt x="7576835" y="27924"/>
                  </a:lnTo>
                  <a:lnTo>
                    <a:pt x="7597268" y="58239"/>
                  </a:lnTo>
                  <a:lnTo>
                    <a:pt x="7604760" y="95377"/>
                  </a:lnTo>
                  <a:lnTo>
                    <a:pt x="7604760" y="1364615"/>
                  </a:lnTo>
                  <a:lnTo>
                    <a:pt x="7597268" y="1401752"/>
                  </a:lnTo>
                  <a:lnTo>
                    <a:pt x="7576835" y="1432067"/>
                  </a:lnTo>
                  <a:lnTo>
                    <a:pt x="7546520" y="1452500"/>
                  </a:lnTo>
                  <a:lnTo>
                    <a:pt x="7509383" y="1459992"/>
                  </a:lnTo>
                  <a:lnTo>
                    <a:pt x="95351" y="1459992"/>
                  </a:lnTo>
                  <a:lnTo>
                    <a:pt x="58234" y="1452500"/>
                  </a:lnTo>
                  <a:lnTo>
                    <a:pt x="27925" y="1432067"/>
                  </a:lnTo>
                  <a:lnTo>
                    <a:pt x="7492" y="1401752"/>
                  </a:lnTo>
                  <a:lnTo>
                    <a:pt x="0" y="1364615"/>
                  </a:lnTo>
                  <a:lnTo>
                    <a:pt x="0" y="95377"/>
                  </a:lnTo>
                  <a:close/>
                </a:path>
              </a:pathLst>
            </a:custGeom>
            <a:ln w="30480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38555" y="5633161"/>
            <a:ext cx="3964940" cy="932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50" b="1">
                <a:solidFill>
                  <a:srgbClr val="3A4E4E"/>
                </a:solidFill>
                <a:latin typeface="Arial"/>
                <a:cs typeface="Arial"/>
              </a:rPr>
              <a:t>Insightful</a:t>
            </a:r>
            <a:r>
              <a:rPr dirty="0" sz="2200" spc="-70" b="1">
                <a:solidFill>
                  <a:srgbClr val="3A4E4E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3A4E4E"/>
                </a:solidFill>
                <a:latin typeface="Arial"/>
                <a:cs typeface="Arial"/>
              </a:rPr>
              <a:t>EDA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Uncover</a:t>
            </a:r>
            <a:r>
              <a:rPr dirty="0" sz="1750" spc="-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seasonal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750" spc="-6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3A4E4E"/>
                </a:solidFill>
                <a:latin typeface="Tahoma"/>
                <a:cs typeface="Tahoma"/>
              </a:rPr>
              <a:t>regional</a:t>
            </a:r>
            <a:r>
              <a:rPr dirty="0" sz="175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3A4E4E"/>
                </a:solidFill>
                <a:latin typeface="Tahoma"/>
                <a:cs typeface="Tahoma"/>
              </a:rPr>
              <a:t>patterns.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8071" y="2420111"/>
            <a:ext cx="4885943" cy="24932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3243" rIns="0" bIns="0" rtlCol="0" vert="horz">
            <a:spAutoFit/>
          </a:bodyPr>
          <a:lstStyle/>
          <a:p>
            <a:pPr marL="253365">
              <a:lnSpc>
                <a:spcPct val="100000"/>
              </a:lnSpc>
              <a:spcBef>
                <a:spcPts val="105"/>
              </a:spcBef>
            </a:pPr>
            <a:r>
              <a:rPr dirty="0" sz="4050"/>
              <a:t>Miles</a:t>
            </a:r>
            <a:r>
              <a:rPr dirty="0" sz="4050" spc="-540"/>
              <a:t> </a:t>
            </a:r>
            <a:r>
              <a:rPr dirty="0" sz="4050"/>
              <a:t>tone</a:t>
            </a:r>
            <a:r>
              <a:rPr dirty="0" sz="4050" spc="85"/>
              <a:t> </a:t>
            </a:r>
            <a:r>
              <a:rPr dirty="0" sz="4050"/>
              <a:t>2:</a:t>
            </a:r>
            <a:r>
              <a:rPr dirty="0" sz="4050" spc="195"/>
              <a:t> </a:t>
            </a:r>
            <a:r>
              <a:rPr dirty="0" sz="4050"/>
              <a:t>Model</a:t>
            </a:r>
            <a:r>
              <a:rPr dirty="0" sz="4050" spc="5"/>
              <a:t> </a:t>
            </a:r>
            <a:r>
              <a:rPr dirty="0" sz="4050"/>
              <a:t>Training</a:t>
            </a:r>
            <a:r>
              <a:rPr dirty="0" sz="4050" spc="-80"/>
              <a:t> </a:t>
            </a:r>
            <a:r>
              <a:rPr dirty="0" sz="4050"/>
              <a:t>&amp;</a:t>
            </a:r>
            <a:r>
              <a:rPr dirty="0" sz="4050" spc="-235"/>
              <a:t> </a:t>
            </a:r>
            <a:r>
              <a:rPr dirty="0" sz="4050" spc="35"/>
              <a:t>Evaluation</a:t>
            </a:r>
            <a:endParaRPr sz="4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216" y="2289048"/>
            <a:ext cx="4486656" cy="268833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97346" y="1655786"/>
            <a:ext cx="7456170" cy="102298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36900"/>
              </a:lnSpc>
              <a:spcBef>
                <a:spcPts val="65"/>
              </a:spcBef>
            </a:pP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Train</a:t>
            </a:r>
            <a:r>
              <a:rPr dirty="0" sz="16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ARIMA,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Prophet,</a:t>
            </a:r>
            <a:r>
              <a:rPr dirty="0" sz="16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or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LSTM</a:t>
            </a:r>
            <a:r>
              <a:rPr dirty="0" sz="160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models</a:t>
            </a:r>
            <a:r>
              <a:rPr dirty="0" sz="160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on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historical</a:t>
            </a:r>
            <a:r>
              <a:rPr dirty="0" sz="1600" spc="-3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pollutant</a:t>
            </a:r>
            <a:r>
              <a:rPr dirty="0" sz="1600" spc="-3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values.</a:t>
            </a:r>
            <a:r>
              <a:rPr dirty="0" sz="1600" spc="-2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Evaluate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predictions</a:t>
            </a:r>
            <a:r>
              <a:rPr dirty="0" sz="1600" spc="-6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using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3A4E4E"/>
                </a:solidFill>
                <a:latin typeface="Tahoma"/>
                <a:cs typeface="Tahoma"/>
              </a:rPr>
              <a:t>RMSE</a:t>
            </a:r>
            <a:r>
              <a:rPr dirty="0" sz="1600" spc="-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 spc="-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MAE.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Select</a:t>
            </a:r>
            <a:r>
              <a:rPr dirty="0" sz="1600" spc="-5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the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best-performing</a:t>
            </a:r>
            <a:r>
              <a:rPr dirty="0" sz="1600" spc="-10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model</a:t>
            </a:r>
            <a:r>
              <a:rPr dirty="0" sz="1600" spc="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and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 save</a:t>
            </a:r>
            <a:r>
              <a:rPr dirty="0" sz="1600" spc="-4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it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3A4E4E"/>
                </a:solidFill>
                <a:latin typeface="Tahoma"/>
                <a:cs typeface="Tahoma"/>
              </a:rPr>
              <a:t>for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inference.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05728" y="2950464"/>
            <a:ext cx="7708900" cy="2139950"/>
            <a:chOff x="6205728" y="2950464"/>
            <a:chExt cx="7708900" cy="2139950"/>
          </a:xfrm>
        </p:grpSpPr>
        <p:sp>
          <p:nvSpPr>
            <p:cNvPr id="6" name="object 6" descr=""/>
            <p:cNvSpPr/>
            <p:nvPr/>
          </p:nvSpPr>
          <p:spPr>
            <a:xfrm>
              <a:off x="6210300" y="2955036"/>
              <a:ext cx="7699375" cy="2131060"/>
            </a:xfrm>
            <a:custGeom>
              <a:avLst/>
              <a:gdLst/>
              <a:ahLst/>
              <a:cxnLst/>
              <a:rect l="l" t="t" r="r" b="b"/>
              <a:pathLst>
                <a:path w="7699375" h="2131060">
                  <a:moveTo>
                    <a:pt x="7611744" y="0"/>
                  </a:moveTo>
                  <a:lnTo>
                    <a:pt x="87502" y="0"/>
                  </a:lnTo>
                  <a:lnTo>
                    <a:pt x="53417" y="6867"/>
                  </a:lnTo>
                  <a:lnTo>
                    <a:pt x="25606" y="25606"/>
                  </a:lnTo>
                  <a:lnTo>
                    <a:pt x="6867" y="53417"/>
                  </a:lnTo>
                  <a:lnTo>
                    <a:pt x="0" y="87502"/>
                  </a:lnTo>
                  <a:lnTo>
                    <a:pt x="0" y="2043049"/>
                  </a:lnTo>
                  <a:lnTo>
                    <a:pt x="6867" y="2077134"/>
                  </a:lnTo>
                  <a:lnTo>
                    <a:pt x="25606" y="2104945"/>
                  </a:lnTo>
                  <a:lnTo>
                    <a:pt x="53417" y="2123684"/>
                  </a:lnTo>
                  <a:lnTo>
                    <a:pt x="87502" y="2130552"/>
                  </a:lnTo>
                  <a:lnTo>
                    <a:pt x="7611744" y="2130552"/>
                  </a:lnTo>
                  <a:lnTo>
                    <a:pt x="7645830" y="2123684"/>
                  </a:lnTo>
                  <a:lnTo>
                    <a:pt x="7673641" y="2104945"/>
                  </a:lnTo>
                  <a:lnTo>
                    <a:pt x="7692380" y="2077134"/>
                  </a:lnTo>
                  <a:lnTo>
                    <a:pt x="7699248" y="2043049"/>
                  </a:lnTo>
                  <a:lnTo>
                    <a:pt x="7699248" y="87502"/>
                  </a:lnTo>
                  <a:lnTo>
                    <a:pt x="7692380" y="53417"/>
                  </a:lnTo>
                  <a:lnTo>
                    <a:pt x="7673641" y="25606"/>
                  </a:lnTo>
                  <a:lnTo>
                    <a:pt x="7645830" y="6867"/>
                  </a:lnTo>
                  <a:lnTo>
                    <a:pt x="7611744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10300" y="2955036"/>
              <a:ext cx="7699375" cy="2131060"/>
            </a:xfrm>
            <a:custGeom>
              <a:avLst/>
              <a:gdLst/>
              <a:ahLst/>
              <a:cxnLst/>
              <a:rect l="l" t="t" r="r" b="b"/>
              <a:pathLst>
                <a:path w="7699375" h="2131060">
                  <a:moveTo>
                    <a:pt x="0" y="87502"/>
                  </a:moveTo>
                  <a:lnTo>
                    <a:pt x="6867" y="53417"/>
                  </a:lnTo>
                  <a:lnTo>
                    <a:pt x="25606" y="25606"/>
                  </a:lnTo>
                  <a:lnTo>
                    <a:pt x="53417" y="6867"/>
                  </a:lnTo>
                  <a:lnTo>
                    <a:pt x="87502" y="0"/>
                  </a:lnTo>
                  <a:lnTo>
                    <a:pt x="7611744" y="0"/>
                  </a:lnTo>
                  <a:lnTo>
                    <a:pt x="7645830" y="6867"/>
                  </a:lnTo>
                  <a:lnTo>
                    <a:pt x="7673641" y="25606"/>
                  </a:lnTo>
                  <a:lnTo>
                    <a:pt x="7692380" y="53417"/>
                  </a:lnTo>
                  <a:lnTo>
                    <a:pt x="7699248" y="87502"/>
                  </a:lnTo>
                  <a:lnTo>
                    <a:pt x="7699248" y="2043049"/>
                  </a:lnTo>
                  <a:lnTo>
                    <a:pt x="7692380" y="2077134"/>
                  </a:lnTo>
                  <a:lnTo>
                    <a:pt x="7673641" y="2104945"/>
                  </a:lnTo>
                  <a:lnTo>
                    <a:pt x="7645830" y="2123684"/>
                  </a:lnTo>
                  <a:lnTo>
                    <a:pt x="7611744" y="2130552"/>
                  </a:lnTo>
                  <a:lnTo>
                    <a:pt x="87502" y="2130552"/>
                  </a:lnTo>
                  <a:lnTo>
                    <a:pt x="53417" y="2123684"/>
                  </a:lnTo>
                  <a:lnTo>
                    <a:pt x="25606" y="2104945"/>
                  </a:lnTo>
                  <a:lnTo>
                    <a:pt x="6867" y="2077134"/>
                  </a:lnTo>
                  <a:lnTo>
                    <a:pt x="0" y="2043049"/>
                  </a:lnTo>
                  <a:lnTo>
                    <a:pt x="0" y="87502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25184" y="3169920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40" h="624839">
                  <a:moveTo>
                    <a:pt x="312419" y="0"/>
                  </a:moveTo>
                  <a:lnTo>
                    <a:pt x="266241" y="3386"/>
                  </a:lnTo>
                  <a:lnTo>
                    <a:pt x="222171" y="13223"/>
                  </a:lnTo>
                  <a:lnTo>
                    <a:pt x="180690" y="29029"/>
                  </a:lnTo>
                  <a:lnTo>
                    <a:pt x="142282" y="50320"/>
                  </a:lnTo>
                  <a:lnTo>
                    <a:pt x="107429" y="76615"/>
                  </a:lnTo>
                  <a:lnTo>
                    <a:pt x="76615" y="107429"/>
                  </a:lnTo>
                  <a:lnTo>
                    <a:pt x="50320" y="142282"/>
                  </a:lnTo>
                  <a:lnTo>
                    <a:pt x="29029" y="180690"/>
                  </a:lnTo>
                  <a:lnTo>
                    <a:pt x="13223" y="222171"/>
                  </a:lnTo>
                  <a:lnTo>
                    <a:pt x="3386" y="266241"/>
                  </a:lnTo>
                  <a:lnTo>
                    <a:pt x="0" y="312419"/>
                  </a:lnTo>
                  <a:lnTo>
                    <a:pt x="3386" y="358598"/>
                  </a:lnTo>
                  <a:lnTo>
                    <a:pt x="13223" y="402668"/>
                  </a:lnTo>
                  <a:lnTo>
                    <a:pt x="29029" y="444149"/>
                  </a:lnTo>
                  <a:lnTo>
                    <a:pt x="50320" y="482557"/>
                  </a:lnTo>
                  <a:lnTo>
                    <a:pt x="76615" y="517410"/>
                  </a:lnTo>
                  <a:lnTo>
                    <a:pt x="107429" y="548224"/>
                  </a:lnTo>
                  <a:lnTo>
                    <a:pt x="142282" y="574519"/>
                  </a:lnTo>
                  <a:lnTo>
                    <a:pt x="180690" y="595810"/>
                  </a:lnTo>
                  <a:lnTo>
                    <a:pt x="222171" y="611616"/>
                  </a:lnTo>
                  <a:lnTo>
                    <a:pt x="266241" y="621453"/>
                  </a:lnTo>
                  <a:lnTo>
                    <a:pt x="312419" y="624839"/>
                  </a:lnTo>
                  <a:lnTo>
                    <a:pt x="358598" y="621453"/>
                  </a:lnTo>
                  <a:lnTo>
                    <a:pt x="402668" y="611616"/>
                  </a:lnTo>
                  <a:lnTo>
                    <a:pt x="444149" y="595810"/>
                  </a:lnTo>
                  <a:lnTo>
                    <a:pt x="482557" y="574519"/>
                  </a:lnTo>
                  <a:lnTo>
                    <a:pt x="517410" y="548224"/>
                  </a:lnTo>
                  <a:lnTo>
                    <a:pt x="548224" y="517410"/>
                  </a:lnTo>
                  <a:lnTo>
                    <a:pt x="574519" y="482557"/>
                  </a:lnTo>
                  <a:lnTo>
                    <a:pt x="595810" y="444149"/>
                  </a:lnTo>
                  <a:lnTo>
                    <a:pt x="611616" y="402668"/>
                  </a:lnTo>
                  <a:lnTo>
                    <a:pt x="621453" y="358598"/>
                  </a:lnTo>
                  <a:lnTo>
                    <a:pt x="624839" y="312419"/>
                  </a:lnTo>
                  <a:lnTo>
                    <a:pt x="621453" y="266241"/>
                  </a:lnTo>
                  <a:lnTo>
                    <a:pt x="611616" y="222171"/>
                  </a:lnTo>
                  <a:lnTo>
                    <a:pt x="595810" y="180690"/>
                  </a:lnTo>
                  <a:lnTo>
                    <a:pt x="574519" y="142282"/>
                  </a:lnTo>
                  <a:lnTo>
                    <a:pt x="548224" y="107429"/>
                  </a:lnTo>
                  <a:lnTo>
                    <a:pt x="517410" y="76615"/>
                  </a:lnTo>
                  <a:lnTo>
                    <a:pt x="482557" y="50320"/>
                  </a:lnTo>
                  <a:lnTo>
                    <a:pt x="444149" y="29029"/>
                  </a:lnTo>
                  <a:lnTo>
                    <a:pt x="402668" y="13223"/>
                  </a:lnTo>
                  <a:lnTo>
                    <a:pt x="358598" y="3386"/>
                  </a:lnTo>
                  <a:lnTo>
                    <a:pt x="312419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5872" y="3343656"/>
              <a:ext cx="280416" cy="280415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6413119" y="3986021"/>
            <a:ext cx="3208655" cy="847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3A4E4E"/>
                </a:solidFill>
                <a:latin typeface="Malgun Gothic Semilight"/>
                <a:cs typeface="Malgun Gothic Semilight"/>
              </a:rPr>
              <a:t>Model</a:t>
            </a:r>
            <a:r>
              <a:rPr dirty="0" sz="2000" spc="4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Training</a:t>
            </a:r>
            <a:endParaRPr sz="20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Develop</a:t>
            </a:r>
            <a:r>
              <a:rPr dirty="0" sz="1600" spc="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robust</a:t>
            </a:r>
            <a:r>
              <a:rPr dirty="0" sz="1600" spc="7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forecasting</a:t>
            </a:r>
            <a:r>
              <a:rPr dirty="0" sz="1600" spc="-15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models.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205728" y="5291328"/>
            <a:ext cx="7708900" cy="2136775"/>
            <a:chOff x="6205728" y="5291328"/>
            <a:chExt cx="7708900" cy="2136775"/>
          </a:xfrm>
        </p:grpSpPr>
        <p:sp>
          <p:nvSpPr>
            <p:cNvPr id="12" name="object 12" descr=""/>
            <p:cNvSpPr/>
            <p:nvPr/>
          </p:nvSpPr>
          <p:spPr>
            <a:xfrm>
              <a:off x="6210300" y="5295900"/>
              <a:ext cx="7699375" cy="2127885"/>
            </a:xfrm>
            <a:custGeom>
              <a:avLst/>
              <a:gdLst/>
              <a:ahLst/>
              <a:cxnLst/>
              <a:rect l="l" t="t" r="r" b="b"/>
              <a:pathLst>
                <a:path w="7699375" h="2127884">
                  <a:moveTo>
                    <a:pt x="7611871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2040191"/>
                  </a:lnTo>
                  <a:lnTo>
                    <a:pt x="6865" y="2074177"/>
                  </a:lnTo>
                  <a:lnTo>
                    <a:pt x="25590" y="2101930"/>
                  </a:lnTo>
                  <a:lnTo>
                    <a:pt x="53363" y="2120642"/>
                  </a:lnTo>
                  <a:lnTo>
                    <a:pt x="87375" y="2127504"/>
                  </a:lnTo>
                  <a:lnTo>
                    <a:pt x="7611871" y="2127504"/>
                  </a:lnTo>
                  <a:lnTo>
                    <a:pt x="7645884" y="2120642"/>
                  </a:lnTo>
                  <a:lnTo>
                    <a:pt x="7673657" y="2101930"/>
                  </a:lnTo>
                  <a:lnTo>
                    <a:pt x="7692382" y="2074177"/>
                  </a:lnTo>
                  <a:lnTo>
                    <a:pt x="7699248" y="2040191"/>
                  </a:lnTo>
                  <a:lnTo>
                    <a:pt x="7699248" y="87375"/>
                  </a:lnTo>
                  <a:lnTo>
                    <a:pt x="7692382" y="53363"/>
                  </a:lnTo>
                  <a:lnTo>
                    <a:pt x="7673657" y="25590"/>
                  </a:lnTo>
                  <a:lnTo>
                    <a:pt x="7645884" y="6865"/>
                  </a:lnTo>
                  <a:lnTo>
                    <a:pt x="7611871" y="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210300" y="5295900"/>
              <a:ext cx="7699375" cy="2127885"/>
            </a:xfrm>
            <a:custGeom>
              <a:avLst/>
              <a:gdLst/>
              <a:ahLst/>
              <a:cxnLst/>
              <a:rect l="l" t="t" r="r" b="b"/>
              <a:pathLst>
                <a:path w="7699375" h="2127884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7611871" y="0"/>
                  </a:lnTo>
                  <a:lnTo>
                    <a:pt x="7645884" y="6865"/>
                  </a:lnTo>
                  <a:lnTo>
                    <a:pt x="7673657" y="25590"/>
                  </a:lnTo>
                  <a:lnTo>
                    <a:pt x="7692382" y="53363"/>
                  </a:lnTo>
                  <a:lnTo>
                    <a:pt x="7699248" y="87375"/>
                  </a:lnTo>
                  <a:lnTo>
                    <a:pt x="7699248" y="2040191"/>
                  </a:lnTo>
                  <a:lnTo>
                    <a:pt x="7692382" y="2074177"/>
                  </a:lnTo>
                  <a:lnTo>
                    <a:pt x="7673657" y="2101930"/>
                  </a:lnTo>
                  <a:lnTo>
                    <a:pt x="7645884" y="2120642"/>
                  </a:lnTo>
                  <a:lnTo>
                    <a:pt x="7611871" y="2127504"/>
                  </a:lnTo>
                  <a:lnTo>
                    <a:pt x="87375" y="2127504"/>
                  </a:lnTo>
                  <a:lnTo>
                    <a:pt x="53363" y="2120642"/>
                  </a:lnTo>
                  <a:lnTo>
                    <a:pt x="25590" y="2101930"/>
                  </a:lnTo>
                  <a:lnTo>
                    <a:pt x="6865" y="2074177"/>
                  </a:lnTo>
                  <a:lnTo>
                    <a:pt x="0" y="2040191"/>
                  </a:lnTo>
                  <a:lnTo>
                    <a:pt x="0" y="87375"/>
                  </a:lnTo>
                  <a:close/>
                </a:path>
              </a:pathLst>
            </a:custGeom>
            <a:ln w="9144">
              <a:solidFill>
                <a:srgbClr val="C3D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25184" y="5507736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40" h="624839">
                  <a:moveTo>
                    <a:pt x="312419" y="0"/>
                  </a:moveTo>
                  <a:lnTo>
                    <a:pt x="266241" y="3386"/>
                  </a:lnTo>
                  <a:lnTo>
                    <a:pt x="222171" y="13223"/>
                  </a:lnTo>
                  <a:lnTo>
                    <a:pt x="180690" y="29029"/>
                  </a:lnTo>
                  <a:lnTo>
                    <a:pt x="142282" y="50320"/>
                  </a:lnTo>
                  <a:lnTo>
                    <a:pt x="107429" y="76615"/>
                  </a:lnTo>
                  <a:lnTo>
                    <a:pt x="76615" y="107429"/>
                  </a:lnTo>
                  <a:lnTo>
                    <a:pt x="50320" y="142282"/>
                  </a:lnTo>
                  <a:lnTo>
                    <a:pt x="29029" y="180690"/>
                  </a:lnTo>
                  <a:lnTo>
                    <a:pt x="13223" y="222171"/>
                  </a:lnTo>
                  <a:lnTo>
                    <a:pt x="3386" y="266241"/>
                  </a:lnTo>
                  <a:lnTo>
                    <a:pt x="0" y="312419"/>
                  </a:lnTo>
                  <a:lnTo>
                    <a:pt x="3386" y="358598"/>
                  </a:lnTo>
                  <a:lnTo>
                    <a:pt x="13223" y="402668"/>
                  </a:lnTo>
                  <a:lnTo>
                    <a:pt x="29029" y="444149"/>
                  </a:lnTo>
                  <a:lnTo>
                    <a:pt x="50320" y="482557"/>
                  </a:lnTo>
                  <a:lnTo>
                    <a:pt x="76615" y="517410"/>
                  </a:lnTo>
                  <a:lnTo>
                    <a:pt x="107429" y="548224"/>
                  </a:lnTo>
                  <a:lnTo>
                    <a:pt x="142282" y="574519"/>
                  </a:lnTo>
                  <a:lnTo>
                    <a:pt x="180690" y="595810"/>
                  </a:lnTo>
                  <a:lnTo>
                    <a:pt x="222171" y="611616"/>
                  </a:lnTo>
                  <a:lnTo>
                    <a:pt x="266241" y="621453"/>
                  </a:lnTo>
                  <a:lnTo>
                    <a:pt x="312419" y="624839"/>
                  </a:lnTo>
                  <a:lnTo>
                    <a:pt x="358598" y="621453"/>
                  </a:lnTo>
                  <a:lnTo>
                    <a:pt x="402668" y="611616"/>
                  </a:lnTo>
                  <a:lnTo>
                    <a:pt x="444149" y="595810"/>
                  </a:lnTo>
                  <a:lnTo>
                    <a:pt x="482557" y="574519"/>
                  </a:lnTo>
                  <a:lnTo>
                    <a:pt x="517410" y="548224"/>
                  </a:lnTo>
                  <a:lnTo>
                    <a:pt x="548224" y="517410"/>
                  </a:lnTo>
                  <a:lnTo>
                    <a:pt x="574519" y="482557"/>
                  </a:lnTo>
                  <a:lnTo>
                    <a:pt x="595810" y="444149"/>
                  </a:lnTo>
                  <a:lnTo>
                    <a:pt x="611616" y="402668"/>
                  </a:lnTo>
                  <a:lnTo>
                    <a:pt x="621453" y="358598"/>
                  </a:lnTo>
                  <a:lnTo>
                    <a:pt x="624839" y="312419"/>
                  </a:lnTo>
                  <a:lnTo>
                    <a:pt x="621453" y="266241"/>
                  </a:lnTo>
                  <a:lnTo>
                    <a:pt x="611616" y="222171"/>
                  </a:lnTo>
                  <a:lnTo>
                    <a:pt x="595810" y="180690"/>
                  </a:lnTo>
                  <a:lnTo>
                    <a:pt x="574519" y="142282"/>
                  </a:lnTo>
                  <a:lnTo>
                    <a:pt x="548224" y="107429"/>
                  </a:lnTo>
                  <a:lnTo>
                    <a:pt x="517410" y="76615"/>
                  </a:lnTo>
                  <a:lnTo>
                    <a:pt x="482557" y="50320"/>
                  </a:lnTo>
                  <a:lnTo>
                    <a:pt x="444149" y="29029"/>
                  </a:lnTo>
                  <a:lnTo>
                    <a:pt x="402668" y="13223"/>
                  </a:lnTo>
                  <a:lnTo>
                    <a:pt x="358598" y="3386"/>
                  </a:lnTo>
                  <a:lnTo>
                    <a:pt x="312419" y="0"/>
                  </a:lnTo>
                  <a:close/>
                </a:path>
              </a:pathLst>
            </a:custGeom>
            <a:solidFill>
              <a:srgbClr val="2144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5872" y="5681472"/>
              <a:ext cx="280416" cy="280415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6413119" y="6324980"/>
            <a:ext cx="3552825" cy="847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55">
                <a:solidFill>
                  <a:srgbClr val="3A4E4E"/>
                </a:solidFill>
                <a:latin typeface="Malgun Gothic Semilight"/>
                <a:cs typeface="Malgun Gothic Semilight"/>
              </a:rPr>
              <a:t>Performance</a:t>
            </a:r>
            <a:r>
              <a:rPr dirty="0" sz="2000" spc="135">
                <a:solidFill>
                  <a:srgbClr val="3A4E4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10">
                <a:solidFill>
                  <a:srgbClr val="3A4E4E"/>
                </a:solidFill>
                <a:latin typeface="Malgun Gothic Semilight"/>
                <a:cs typeface="Malgun Gothic Semilight"/>
              </a:rPr>
              <a:t>Metrics</a:t>
            </a:r>
            <a:endParaRPr sz="20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155"/>
              </a:spcBef>
            </a:pP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Evaluate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with</a:t>
            </a:r>
            <a:r>
              <a:rPr dirty="0" sz="1600" spc="-7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3A4E4E"/>
                </a:solidFill>
                <a:latin typeface="Tahoma"/>
                <a:cs typeface="Tahoma"/>
              </a:rPr>
              <a:t>RMSE/MAE</a:t>
            </a:r>
            <a:r>
              <a:rPr dirty="0" sz="1600" spc="-8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A4E4E"/>
                </a:solidFill>
                <a:latin typeface="Tahoma"/>
                <a:cs typeface="Tahoma"/>
              </a:rPr>
              <a:t>for</a:t>
            </a:r>
            <a:r>
              <a:rPr dirty="0" sz="1600" spc="-140">
                <a:solidFill>
                  <a:srgbClr val="3A4E4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A4E4E"/>
                </a:solidFill>
                <a:latin typeface="Tahoma"/>
                <a:cs typeface="Tahoma"/>
              </a:rPr>
              <a:t>accuracy.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2464" y="1389888"/>
            <a:ext cx="6544055" cy="67086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184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90"/>
              </a:spcBef>
            </a:pPr>
            <a:r>
              <a:rPr dirty="0" sz="3200" spc="-30" b="1">
                <a:latin typeface="Arial"/>
                <a:cs typeface="Arial"/>
              </a:rPr>
              <a:t>Milestone</a:t>
            </a:r>
            <a:r>
              <a:rPr dirty="0" sz="3200" spc="-105" b="1">
                <a:latin typeface="Arial"/>
                <a:cs typeface="Arial"/>
              </a:rPr>
              <a:t> </a:t>
            </a:r>
            <a:r>
              <a:rPr dirty="0" sz="3200" spc="-30" b="1">
                <a:latin typeface="Arial"/>
                <a:cs typeface="Arial"/>
              </a:rPr>
              <a:t>3(Data</a:t>
            </a:r>
            <a:r>
              <a:rPr dirty="0" sz="3200" spc="-190" b="1">
                <a:latin typeface="Arial"/>
                <a:cs typeface="Arial"/>
              </a:rPr>
              <a:t> </a:t>
            </a:r>
            <a:r>
              <a:rPr dirty="0" sz="3200" spc="-85" b="1">
                <a:latin typeface="Arial"/>
                <a:cs typeface="Arial"/>
              </a:rPr>
              <a:t>Explorer</a:t>
            </a:r>
            <a:r>
              <a:rPr dirty="0" sz="3200" spc="-7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&amp;</a:t>
            </a:r>
            <a:r>
              <a:rPr dirty="0" sz="3200" spc="-165" b="1">
                <a:latin typeface="Arial"/>
                <a:cs typeface="Arial"/>
              </a:rPr>
              <a:t> </a:t>
            </a:r>
            <a:r>
              <a:rPr dirty="0" sz="3200" spc="-55" b="1">
                <a:latin typeface="Arial"/>
                <a:cs typeface="Arial"/>
              </a:rPr>
              <a:t>Forecast</a:t>
            </a:r>
            <a:r>
              <a:rPr dirty="0" sz="3200" spc="-65" b="1">
                <a:latin typeface="Arial"/>
                <a:cs typeface="Arial"/>
              </a:rPr>
              <a:t> </a:t>
            </a:r>
            <a:r>
              <a:rPr dirty="0" sz="3200" spc="-105" b="1">
                <a:latin typeface="Arial"/>
                <a:cs typeface="Arial"/>
              </a:rPr>
              <a:t>Engine)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23" y="1389888"/>
            <a:ext cx="6544056" cy="67086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6095" y="4715255"/>
            <a:ext cx="6516623" cy="33101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Miles</a:t>
            </a:r>
            <a:r>
              <a:rPr dirty="0" spc="-350"/>
              <a:t> </a:t>
            </a:r>
            <a:r>
              <a:rPr dirty="0"/>
              <a:t>tone</a:t>
            </a:r>
            <a:r>
              <a:rPr dirty="0" spc="105"/>
              <a:t> </a:t>
            </a:r>
            <a:r>
              <a:rPr dirty="0"/>
              <a:t>4(Alert</a:t>
            </a:r>
            <a:r>
              <a:rPr dirty="0" spc="-90"/>
              <a:t> </a:t>
            </a:r>
            <a:r>
              <a:rPr dirty="0" spc="114"/>
              <a:t>Sys</a:t>
            </a:r>
            <a:r>
              <a:rPr dirty="0" spc="-320"/>
              <a:t> </a:t>
            </a:r>
            <a:r>
              <a:rPr dirty="0"/>
              <a:t>tem</a:t>
            </a:r>
            <a:r>
              <a:rPr dirty="0" spc="80"/>
              <a:t> </a:t>
            </a:r>
            <a:r>
              <a:rPr dirty="0"/>
              <a:t>&amp;</a:t>
            </a:r>
            <a:r>
              <a:rPr dirty="0" spc="-90"/>
              <a:t> </a:t>
            </a:r>
            <a:r>
              <a:rPr dirty="0" spc="50"/>
              <a:t>Streamlit</a:t>
            </a:r>
            <a:r>
              <a:rPr dirty="0" spc="-40"/>
              <a:t> </a:t>
            </a:r>
            <a:r>
              <a:rPr dirty="0" spc="55"/>
              <a:t>web</a:t>
            </a:r>
            <a:r>
              <a:rPr dirty="0" spc="25"/>
              <a:t> </a:t>
            </a:r>
            <a:r>
              <a:rPr dirty="0" spc="40"/>
              <a:t>dashboard)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" y="1182624"/>
            <a:ext cx="6516624" cy="31668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2192" y="1182624"/>
            <a:ext cx="6519672" cy="31668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" y="4684776"/>
            <a:ext cx="6516624" cy="33101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4454" y="1306448"/>
            <a:ext cx="1773555" cy="7023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4450" spc="-85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Github</a:t>
            </a:r>
            <a:endParaRPr sz="44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0408" y="2947416"/>
            <a:ext cx="3529584" cy="375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2025-11-13T05:44:11Z</dcterms:created>
  <dcterms:modified xsi:type="dcterms:W3CDTF">2025-11-13T05:44:11Z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2025-11-13T00:00:00Z</vt:filetime>
  </property>
  <property fmtid="{D5CDD505-2E9C-101B-9397-08002B2CF9AE}" pid="3" name="LastSaved">
    <vt:filetime>2025-11-13T00:00:00Z</vt:filetime>
  </property>
  <property fmtid="{D5CDD505-2E9C-101B-9397-08002B2CF9AE}" pid="4" name="Producer">
    <vt:lpwstr>iLovePDF</vt:lpwstr>
  </property>
</Properties>
</file>